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clock. Cooked food has about four hours. Surplus and hunger sit kilometres apart but nobody connects them in time. The 78M figure is from the UNEP Food Waste Index 2024 (household food waste, India); verify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along the conveyor. The orchestrator skill chains six skills. The safety skill can stop the whole chain with a REJECT. Matching, routing and impact math are Python scripts, so results are consistent and explainable. Data files at the bottom feed the skills; outputs are the dashboard, messages and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runs offline on Python 3 and a static web page, so the demo cannot fail on Wi-Fi. The amber card is the production path: real messaging, a geospatial database and road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safety gate: most food-sharing apps are listing boards, ours refuses unsafe food. The numbers are projections from documented assumptions: 0.4 kg per packet and 2.5 kg CO2e per kg of food waste avoided. Say they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placeholder with dashboard screenshots or a short screen recording. Suggested demo: paste the wedding-hall listing, show the safety verdict, the match and route, the three messages, then the impact counter. End with the rejected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E241A"/>
        </a:solidFill>
      </p:bgPr>
    </p:bg>
    <p:spTree>
      <p:nvGrpSpPr>
        <p:cNvPr id="1" name=""/>
        <p:cNvGrpSpPr/>
        <p:nvPr/>
      </p:nvGrpSpPr>
      <p:grpSpPr>
        <a:xfrm>
          <a:off x="0" y="0"/>
          <a:ext cx="0" cy="0"/>
          <a:chOff x="0" y="0"/>
          <a:chExt cx="0" cy="0"/>
        </a:xfrm>
      </p:grpSpPr>
      <p:sp>
        <p:nvSpPr>
          <p:cNvPr id="2"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b="1" spc="300" kern="0" dirty="0">
                <a:solidFill>
                  <a:srgbClr val="8FA79A"/>
                </a:solidFill>
              </a:rPr>
              <a:t>ZERO FOOD WASTE</a:t>
            </a:r>
            <a:endParaRPr lang="en-US" sz="900" dirty="0"/>
          </a:p>
        </p:txBody>
      </p:sp>
      <p:sp>
        <p:nvSpPr>
          <p:cNvPr id="3" name="Text 1"/>
          <p:cNvSpPr/>
          <p:nvPr>
            <p:ph idx="101" type="title" hasCustomPrompt="1"/>
          </p:nvPr>
        </p:nvSpPr>
        <p:spPr>
          <a:xfrm>
            <a:off x="457200" y="411480"/>
            <a:ext cx="8229600" cy="64008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A79A"/>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A79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600" b="1" dirty="0">
                <a:solidFill>
                  <a:schemeClr val="bg1"/>
                </a:solidFill>
              </a:rPr>
              <a:t>The problem: food spoils in hours</a:t>
            </a:r>
            <a:endParaRPr lang="en-US" sz="2600" dirty="0"/>
          </a:p>
        </p:txBody>
      </p:sp>
      <p:sp>
        <p:nvSpPr>
          <p:cNvPr id="4" name="Clock track"/>
          <p:cNvSpPr/>
          <p:nvPr/>
        </p:nvSpPr>
        <p:spPr>
          <a:xfrm>
            <a:off x="457200" y="201168"/>
            <a:ext cx="6675120" cy="64008"/>
          </a:xfrm>
          <a:prstGeom prst="rect">
            <a:avLst/>
          </a:prstGeom>
          <a:solidFill>
            <a:schemeClr val="bg2"/>
          </a:solidFill>
          <a:ln w="12700">
            <a:solidFill>
              <a:srgbClr val="1F4D37"/>
            </a:solidFill>
            <a:prstDash val="solid"/>
          </a:ln>
        </p:spPr>
      </p:sp>
      <p:sp>
        <p:nvSpPr>
          <p:cNvPr id="5" name="g00 Clock fill wipe"/>
          <p:cNvSpPr/>
          <p:nvPr/>
        </p:nvSpPr>
        <p:spPr>
          <a:xfrm>
            <a:off x="457200" y="201168"/>
            <a:ext cx="6675120" cy="64008"/>
          </a:xfrm>
          <a:prstGeom prst="rect">
            <a:avLst/>
          </a:prstGeom>
          <a:solidFill>
            <a:schemeClr val="accent1"/>
          </a:solidFill>
          <a:ln w="12700">
            <a:solidFill>
              <a:srgbClr val="1F4D37"/>
            </a:solidFill>
            <a:prstDash val="solid"/>
          </a:ln>
        </p:spPr>
      </p:sp>
      <p:sp>
        <p:nvSpPr>
          <p:cNvPr id="6" name="Clock label"/>
          <p:cNvSpPr txBox="1"/>
          <p:nvPr/>
        </p:nvSpPr>
        <p:spPr>
          <a:xfrm>
            <a:off x="7269480" y="128016"/>
            <a:ext cx="1417320" cy="201168"/>
          </a:xfrm>
          <a:prstGeom prst="rect">
            <a:avLst/>
          </a:prstGeom>
          <a:noFill/>
          <a:ln/>
        </p:spPr>
        <p:txBody>
          <a:bodyPr wrap="square" lIns="0" tIns="0" rIns="0" bIns="0" rtlCol="0" anchor="ctr"/>
          <a:lstStyle/>
          <a:p>
            <a:pPr algn="r" indent="0" marL="0">
              <a:buNone/>
            </a:pPr>
            <a:r>
              <a:rPr lang="en-US" sz="900" b="1" spc="100" kern="0" dirty="0">
                <a:solidFill>
                  <a:schemeClr val="accent1"/>
                </a:solidFill>
              </a:rPr>
              <a:t>SAFE WINDOW 4:00:00</a:t>
            </a:r>
            <a:endParaRPr lang="en-US" sz="900" dirty="0"/>
          </a:p>
        </p:txBody>
      </p:sp>
      <p:sp>
        <p:nvSpPr>
          <p:cNvPr id="7" name="g01 Hero clock"/>
          <p:cNvSpPr txBox="1"/>
          <p:nvPr/>
        </p:nvSpPr>
        <p:spPr>
          <a:xfrm>
            <a:off x="457200" y="1097280"/>
            <a:ext cx="4937760" cy="914400"/>
          </a:xfrm>
          <a:prstGeom prst="rect">
            <a:avLst/>
          </a:prstGeom>
          <a:noFill/>
          <a:ln/>
        </p:spPr>
        <p:txBody>
          <a:bodyPr wrap="square" lIns="0" tIns="0" rIns="0" bIns="0" rtlCol="0" anchor="ctr"/>
          <a:lstStyle/>
          <a:p>
            <a:pPr indent="0" marL="0">
              <a:buNone/>
            </a:pPr>
            <a:r>
              <a:rPr lang="en-US" sz="6600" b="1" dirty="0">
                <a:solidFill>
                  <a:schemeClr val="accent1"/>
                </a:solidFill>
                <a:latin typeface="Georgia" pitchFamily="34" charset="0"/>
                <a:ea typeface="Georgia" pitchFamily="34" charset="-122"/>
                <a:cs typeface="Georgia" pitchFamily="34" charset="-120"/>
              </a:rPr>
              <a:t>4:00:00</a:t>
            </a:r>
            <a:endParaRPr lang="en-US" sz="6600" dirty="0"/>
          </a:p>
        </p:txBody>
      </p:sp>
      <p:sp>
        <p:nvSpPr>
          <p:cNvPr id="8" name="g01 Hero caption"/>
          <p:cNvSpPr txBox="1"/>
          <p:nvPr/>
        </p:nvSpPr>
        <p:spPr>
          <a:xfrm>
            <a:off x="457200" y="2011680"/>
            <a:ext cx="4937760" cy="274320"/>
          </a:xfrm>
          <a:prstGeom prst="rect">
            <a:avLst/>
          </a:prstGeom>
          <a:noFill/>
          <a:ln/>
        </p:spPr>
        <p:txBody>
          <a:bodyPr wrap="square" lIns="0" tIns="0" rIns="0" bIns="0" rtlCol="0" anchor="ctr"/>
          <a:lstStyle/>
          <a:p>
            <a:pPr indent="0" marL="0">
              <a:buNone/>
            </a:pPr>
            <a:r>
              <a:rPr lang="en-US" sz="1400" i="1" dirty="0">
                <a:solidFill>
                  <a:schemeClr val="accent3"/>
                </a:solidFill>
              </a:rPr>
              <a:t>the safe window for cooked food</a:t>
            </a:r>
            <a:endParaRPr lang="en-US" sz="1400" dirty="0"/>
          </a:p>
        </p:txBody>
      </p:sp>
      <p:sp>
        <p:nvSpPr>
          <p:cNvPr id="9" name="g02 Chip 1"/>
          <p:cNvSpPr/>
          <p:nvPr/>
        </p:nvSpPr>
        <p:spPr>
          <a:xfrm>
            <a:off x="457200" y="2560320"/>
            <a:ext cx="384048" cy="384048"/>
          </a:xfrm>
          <a:prstGeom prst="ellipse">
            <a:avLst/>
          </a:prstGeom>
          <a:solidFill>
            <a:schemeClr val="accent2"/>
          </a:solidFill>
          <a:ln w="12700">
            <a:solidFill>
              <a:srgbClr val="2D9A5B"/>
            </a:solidFill>
            <a:prstDash val="solid"/>
          </a:ln>
        </p:spPr>
      </p:sp>
      <p:sp>
        <p:nvSpPr>
          <p:cNvPr id="10" name="g02 Chip num 1"/>
          <p:cNvSpPr txBox="1"/>
          <p:nvPr/>
        </p:nvSpPr>
        <p:spPr>
          <a:xfrm>
            <a:off x="457200" y="2560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g02 Point 1"/>
          <p:cNvSpPr txBox="1"/>
          <p:nvPr/>
        </p:nvSpPr>
        <p:spPr>
          <a:xfrm>
            <a:off x="1005840" y="2514600"/>
            <a:ext cx="4389120" cy="640080"/>
          </a:xfrm>
          <a:prstGeom prst="rect">
            <a:avLst/>
          </a:prstGeom>
          <a:noFill/>
          <a:ln/>
        </p:spPr>
        <p:txBody>
          <a:bodyPr wrap="square" lIns="0" tIns="0" rIns="0" bIns="0" rtlCol="0" anchor="t"/>
          <a:lstStyle/>
          <a:p>
            <a:pPr indent="0" marL="0">
              <a:buNone/>
            </a:pPr>
            <a:r>
              <a:rPr lang="en-US" sz="1300" b="1" dirty="0">
                <a:solidFill>
                  <a:schemeClr val="accent1"/>
                </a:solidFill>
              </a:rPr>
              <a:t>Surplus is routine</a:t>
            </a:r>
            <a:endParaRPr lang="en-US" sz="1300" dirty="0"/>
          </a:p>
          <a:p>
            <a:pPr indent="0" marL="0">
              <a:buNone/>
            </a:pPr>
            <a:r>
              <a:rPr lang="en-US" sz="1100" dirty="0">
                <a:solidFill>
                  <a:schemeClr val="bg1"/>
                </a:solidFill>
              </a:rPr>
              <a:t>Weddings, hotels, hostels and temple events cook extra and discard it within hours.</a:t>
            </a:r>
            <a:endParaRPr lang="en-US" sz="1300" dirty="0"/>
          </a:p>
        </p:txBody>
      </p:sp>
      <p:sp>
        <p:nvSpPr>
          <p:cNvPr id="12" name="g03 Chip 2"/>
          <p:cNvSpPr/>
          <p:nvPr/>
        </p:nvSpPr>
        <p:spPr>
          <a:xfrm>
            <a:off x="457200" y="3273552"/>
            <a:ext cx="384048" cy="384048"/>
          </a:xfrm>
          <a:prstGeom prst="ellipse">
            <a:avLst/>
          </a:prstGeom>
          <a:solidFill>
            <a:schemeClr val="accent2"/>
          </a:solidFill>
          <a:ln w="12700">
            <a:solidFill>
              <a:srgbClr val="2D9A5B"/>
            </a:solidFill>
            <a:prstDash val="solid"/>
          </a:ln>
        </p:spPr>
      </p:sp>
      <p:sp>
        <p:nvSpPr>
          <p:cNvPr id="13" name="g03 Chip num 2"/>
          <p:cNvSpPr txBox="1"/>
          <p:nvPr/>
        </p:nvSpPr>
        <p:spPr>
          <a:xfrm>
            <a:off x="457200" y="32735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g03 Point 2"/>
          <p:cNvSpPr txBox="1"/>
          <p:nvPr/>
        </p:nvSpPr>
        <p:spPr>
          <a:xfrm>
            <a:off x="1005840" y="3227832"/>
            <a:ext cx="4389120" cy="640080"/>
          </a:xfrm>
          <a:prstGeom prst="rect">
            <a:avLst/>
          </a:prstGeom>
          <a:noFill/>
          <a:ln/>
        </p:spPr>
        <p:txBody>
          <a:bodyPr wrap="square" lIns="0" tIns="0" rIns="0" bIns="0" rtlCol="0" anchor="t"/>
          <a:lstStyle/>
          <a:p>
            <a:pPr indent="0" marL="0">
              <a:buNone/>
            </a:pPr>
            <a:r>
              <a:rPr lang="en-US" sz="1300" b="1" dirty="0">
                <a:solidFill>
                  <a:schemeClr val="accent1"/>
                </a:solidFill>
              </a:rPr>
              <a:t>Need is next door</a:t>
            </a:r>
            <a:endParaRPr lang="en-US" sz="1300" dirty="0"/>
          </a:p>
          <a:p>
            <a:pPr indent="0" marL="0">
              <a:buNone/>
            </a:pPr>
            <a:r>
              <a:rPr lang="en-US" sz="1100" dirty="0">
                <a:solidFill>
                  <a:schemeClr val="bg1"/>
                </a:solidFill>
              </a:rPr>
              <a:t>Orphanages, old age homes and NGO kitchens struggle to arrange daily meals.</a:t>
            </a:r>
            <a:endParaRPr lang="en-US" sz="1300" dirty="0"/>
          </a:p>
        </p:txBody>
      </p:sp>
      <p:sp>
        <p:nvSpPr>
          <p:cNvPr id="15" name="g04 Chip 3"/>
          <p:cNvSpPr/>
          <p:nvPr/>
        </p:nvSpPr>
        <p:spPr>
          <a:xfrm>
            <a:off x="457200" y="3986784"/>
            <a:ext cx="384048" cy="384048"/>
          </a:xfrm>
          <a:prstGeom prst="ellipse">
            <a:avLst/>
          </a:prstGeom>
          <a:solidFill>
            <a:schemeClr val="accent2"/>
          </a:solidFill>
          <a:ln w="12700">
            <a:solidFill>
              <a:srgbClr val="2D9A5B"/>
            </a:solidFill>
            <a:prstDash val="solid"/>
          </a:ln>
        </p:spPr>
      </p:sp>
      <p:sp>
        <p:nvSpPr>
          <p:cNvPr id="16" name="g04 Chip num 3"/>
          <p:cNvSpPr txBox="1"/>
          <p:nvPr/>
        </p:nvSpPr>
        <p:spPr>
          <a:xfrm>
            <a:off x="457200" y="398678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g04 Point 3"/>
          <p:cNvSpPr txBox="1"/>
          <p:nvPr/>
        </p:nvSpPr>
        <p:spPr>
          <a:xfrm>
            <a:off x="1005840" y="3941064"/>
            <a:ext cx="4389120" cy="640080"/>
          </a:xfrm>
          <a:prstGeom prst="rect">
            <a:avLst/>
          </a:prstGeom>
          <a:noFill/>
          <a:ln/>
        </p:spPr>
        <p:txBody>
          <a:bodyPr wrap="square" lIns="0" tIns="0" rIns="0" bIns="0" rtlCol="0" anchor="t"/>
          <a:lstStyle/>
          <a:p>
            <a:pPr indent="0" marL="0">
              <a:buNone/>
            </a:pPr>
            <a:r>
              <a:rPr lang="en-US" sz="1300" b="1" dirty="0">
                <a:solidFill>
                  <a:schemeClr val="accent1"/>
                </a:solidFill>
              </a:rPr>
              <a:t>The gap is time</a:t>
            </a:r>
            <a:endParaRPr lang="en-US" sz="1300" dirty="0"/>
          </a:p>
          <a:p>
            <a:pPr indent="0" marL="0">
              <a:buNone/>
            </a:pPr>
            <a:r>
              <a:rPr lang="en-US" sz="1100" dirty="0">
                <a:solidFill>
                  <a:schemeClr val="bg1"/>
                </a:solidFill>
              </a:rPr>
              <a:t>Nobody knows who needs food nearby, right now, before it spoils.</a:t>
            </a:r>
            <a:endParaRPr lang="en-US" sz="1300" dirty="0"/>
          </a:p>
        </p:txBody>
      </p:sp>
      <p:sp>
        <p:nvSpPr>
          <p:cNvPr id="18" name="g05 Stat card"/>
          <p:cNvSpPr/>
          <p:nvPr/>
        </p:nvSpPr>
        <p:spPr>
          <a:xfrm>
            <a:off x="5760720" y="1143000"/>
            <a:ext cx="2926080" cy="3383280"/>
          </a:xfrm>
          <a:prstGeom prst="roundRect">
            <a:avLst>
              <a:gd name="adj" fmla="val 2500"/>
            </a:avLst>
          </a:prstGeom>
          <a:solidFill>
            <a:schemeClr val="tx2"/>
          </a:solidFill>
          <a:ln w="9525">
            <a:solidFill>
              <a:srgbClr val="F4A261"/>
            </a:solidFill>
            <a:prstDash val="solid"/>
          </a:ln>
        </p:spPr>
      </p:sp>
      <p:sp>
        <p:nvSpPr>
          <p:cNvPr id="19" name="g06 Stat number"/>
          <p:cNvSpPr txBox="1"/>
          <p:nvPr/>
        </p:nvSpPr>
        <p:spPr>
          <a:xfrm>
            <a:off x="5943600" y="1325880"/>
            <a:ext cx="2560320" cy="822960"/>
          </a:xfrm>
          <a:prstGeom prst="rect">
            <a:avLst/>
          </a:prstGeom>
          <a:noFill/>
          <a:ln/>
        </p:spPr>
        <p:txBody>
          <a:bodyPr wrap="square" lIns="0" tIns="0" rIns="0" bIns="0" rtlCol="0" anchor="ctr"/>
          <a:lstStyle/>
          <a:p>
            <a:pPr indent="0" marL="0">
              <a:buNone/>
            </a:pPr>
            <a:r>
              <a:rPr lang="en-US" sz="4800" b="1" dirty="0">
                <a:solidFill>
                  <a:schemeClr val="accent1"/>
                </a:solidFill>
                <a:latin typeface="Georgia" pitchFamily="34" charset="0"/>
                <a:ea typeface="Georgia" pitchFamily="34" charset="-122"/>
                <a:cs typeface="Georgia" pitchFamily="34" charset="-120"/>
              </a:rPr>
              <a:t>78M</a:t>
            </a:r>
            <a:endParaRPr lang="en-US" sz="4800" dirty="0"/>
          </a:p>
        </p:txBody>
      </p:sp>
      <p:sp>
        <p:nvSpPr>
          <p:cNvPr id="20" name="g06 Stat label"/>
          <p:cNvSpPr txBox="1"/>
          <p:nvPr/>
        </p:nvSpPr>
        <p:spPr>
          <a:xfrm>
            <a:off x="5943600" y="2194560"/>
            <a:ext cx="2560320" cy="731520"/>
          </a:xfrm>
          <a:prstGeom prst="rect">
            <a:avLst/>
          </a:prstGeom>
          <a:noFill/>
          <a:ln/>
        </p:spPr>
        <p:txBody>
          <a:bodyPr wrap="square" lIns="0" tIns="0" rIns="0" bIns="0" rtlCol="0" anchor="ctr"/>
          <a:lstStyle/>
          <a:p>
            <a:pPr indent="0" marL="0">
              <a:buNone/>
            </a:pPr>
            <a:r>
              <a:rPr lang="en-US" sz="1300" dirty="0">
                <a:solidFill>
                  <a:schemeClr val="bg1"/>
                </a:solidFill>
              </a:rPr>
              <a:t>tonnes of household food waste in India every year</a:t>
            </a:r>
            <a:endParaRPr lang="en-US" sz="1300" dirty="0"/>
          </a:p>
        </p:txBody>
      </p:sp>
      <p:sp>
        <p:nvSpPr>
          <p:cNvPr id="21" name="g06 Stat source"/>
          <p:cNvSpPr txBox="1"/>
          <p:nvPr/>
        </p:nvSpPr>
        <p:spPr>
          <a:xfrm>
            <a:off x="5943600" y="2926080"/>
            <a:ext cx="2560320" cy="274320"/>
          </a:xfrm>
          <a:prstGeom prst="rect">
            <a:avLst/>
          </a:prstGeom>
          <a:noFill/>
          <a:ln/>
        </p:spPr>
        <p:txBody>
          <a:bodyPr wrap="square" lIns="0" tIns="0" rIns="0" bIns="0" rtlCol="0" anchor="ctr"/>
          <a:lstStyle/>
          <a:p>
            <a:pPr indent="0" marL="0">
              <a:buNone/>
            </a:pPr>
            <a:r>
              <a:rPr lang="en-US" sz="900" i="1" dirty="0">
                <a:solidFill>
                  <a:schemeClr val="accent5"/>
                </a:solidFill>
              </a:rPr>
              <a:t>UNEP Food Waste Index 2024</a:t>
            </a:r>
            <a:endParaRPr lang="en-US" sz="900" dirty="0"/>
          </a:p>
        </p:txBody>
      </p:sp>
      <p:sp>
        <p:nvSpPr>
          <p:cNvPr id="22" name="g07 Stat divider"/>
          <p:cNvSpPr/>
          <p:nvPr/>
        </p:nvSpPr>
        <p:spPr>
          <a:xfrm>
            <a:off x="5943600" y="3337560"/>
            <a:ext cx="2560320" cy="0"/>
          </a:xfrm>
          <a:prstGeom prst="line">
            <a:avLst/>
          </a:prstGeom>
          <a:noFill/>
          <a:ln w="12700">
            <a:solidFill>
              <a:srgbClr val="F4A261"/>
            </a:solidFill>
            <a:prstDash val="solid"/>
          </a:ln>
        </p:spPr>
      </p:sp>
      <p:sp>
        <p:nvSpPr>
          <p:cNvPr id="23" name="g07 Stat takeaway"/>
          <p:cNvSpPr txBox="1"/>
          <p:nvPr/>
        </p:nvSpPr>
        <p:spPr>
          <a:xfrm>
            <a:off x="5943600" y="3520440"/>
            <a:ext cx="2560320" cy="822960"/>
          </a:xfrm>
          <a:prstGeom prst="rect">
            <a:avLst/>
          </a:prstGeom>
          <a:noFill/>
          <a:ln/>
        </p:spPr>
        <p:txBody>
          <a:bodyPr wrap="square" lIns="0" tIns="0" rIns="0" bIns="0" rtlCol="0" anchor="ctr"/>
          <a:lstStyle/>
          <a:p>
            <a:pPr indent="0" marL="0">
              <a:buNone/>
            </a:pPr>
            <a:r>
              <a:rPr lang="en-US" sz="1300" b="1" dirty="0">
                <a:solidFill>
                  <a:schemeClr val="accent3"/>
                </a:solidFill>
              </a:rPr>
              <a:t>The gap isn't willingness. It's coordination under a time limit.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A79A"/>
                </a:solidFill>
              </a:defRPr>
            </a:lvl1pPr>
          </a:lstStyle>
          <a:p>
            <a:pPr algn="r"/>
            <a:fld id="{F7021451-1387-4CA6-816F-3879F97B5CBC}" type="slidenum">
              <a:rPr b="0" lang="en-US"/>
              <a:t>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00"/>
                                        <p:tgtEl>
                                          <p:spTgt spid="5"/>
                                        </p:tgtEl>
                                      </p:cBhvr>
                                    </p:animEffect>
                                  </p:childTnLst>
                                </p:cTn>
                              </p:par>
                              <p:par>
                                <p:cTn id="8" presetID="10" presetClass="entr" presetSubtype="0" fill="hold" nodeType="withEffect">
                                  <p:stCondLst>
                                    <p:cond delay="3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3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6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6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6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9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9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9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12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12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120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15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nodeType="withEffect">
                                  <p:stCondLst>
                                    <p:cond delay="18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nodeType="withEffect">
                                  <p:stCondLst>
                                    <p:cond delay="18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nodeType="withEffect">
                                  <p:stCondLst>
                                    <p:cond delay="180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nodeType="withEffect">
                                  <p:stCondLst>
                                    <p:cond delay="210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210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600" b="1" dirty="0">
                <a:solidFill>
                  <a:schemeClr val="bg1"/>
                </a:solidFill>
              </a:rPr>
              <a:t>Approach: one message in, one rescue out</a:t>
            </a:r>
            <a:endParaRPr lang="en-US" sz="2600" dirty="0"/>
          </a:p>
        </p:txBody>
      </p:sp>
      <p:sp>
        <p:nvSpPr>
          <p:cNvPr id="4" name="Clock track"/>
          <p:cNvSpPr/>
          <p:nvPr/>
        </p:nvSpPr>
        <p:spPr>
          <a:xfrm>
            <a:off x="457200" y="201168"/>
            <a:ext cx="6675120" cy="64008"/>
          </a:xfrm>
          <a:prstGeom prst="rect">
            <a:avLst/>
          </a:prstGeom>
          <a:solidFill>
            <a:schemeClr val="bg2"/>
          </a:solidFill>
          <a:ln w="12700">
            <a:solidFill>
              <a:srgbClr val="1F4D37"/>
            </a:solidFill>
            <a:prstDash val="solid"/>
          </a:ln>
        </p:spPr>
      </p:sp>
      <p:sp>
        <p:nvSpPr>
          <p:cNvPr id="5" name="g00 Clock fill wipe"/>
          <p:cNvSpPr/>
          <p:nvPr/>
        </p:nvSpPr>
        <p:spPr>
          <a:xfrm>
            <a:off x="457200" y="201168"/>
            <a:ext cx="5423535" cy="64008"/>
          </a:xfrm>
          <a:prstGeom prst="rect">
            <a:avLst/>
          </a:prstGeom>
          <a:solidFill>
            <a:schemeClr val="accent1"/>
          </a:solidFill>
          <a:ln w="12700">
            <a:solidFill>
              <a:srgbClr val="1F4D37"/>
            </a:solidFill>
            <a:prstDash val="solid"/>
          </a:ln>
        </p:spPr>
      </p:sp>
      <p:sp>
        <p:nvSpPr>
          <p:cNvPr id="6" name="Clock label"/>
          <p:cNvSpPr txBox="1"/>
          <p:nvPr/>
        </p:nvSpPr>
        <p:spPr>
          <a:xfrm>
            <a:off x="7269480" y="128016"/>
            <a:ext cx="1417320" cy="201168"/>
          </a:xfrm>
          <a:prstGeom prst="rect">
            <a:avLst/>
          </a:prstGeom>
          <a:noFill/>
          <a:ln/>
        </p:spPr>
        <p:txBody>
          <a:bodyPr wrap="square" lIns="0" tIns="0" rIns="0" bIns="0" rtlCol="0" anchor="ctr"/>
          <a:lstStyle/>
          <a:p>
            <a:pPr algn="r" indent="0" marL="0">
              <a:buNone/>
            </a:pPr>
            <a:r>
              <a:rPr lang="en-US" sz="900" b="1" spc="100" kern="0" dirty="0">
                <a:solidFill>
                  <a:schemeClr val="accent1"/>
                </a:solidFill>
              </a:rPr>
              <a:t>SAFE WINDOW 3:15:00</a:t>
            </a:r>
            <a:endParaRPr lang="en-US" sz="900" dirty="0"/>
          </a:p>
        </p:txBody>
      </p:sp>
      <p:sp>
        <p:nvSpPr>
          <p:cNvPr id="7" name="g01 Input pill"/>
          <p:cNvSpPr/>
          <p:nvPr/>
        </p:nvSpPr>
        <p:spPr>
          <a:xfrm>
            <a:off x="457200" y="1097280"/>
            <a:ext cx="8229600" cy="457200"/>
          </a:xfrm>
          <a:prstGeom prst="roundRect">
            <a:avLst>
              <a:gd name="adj" fmla="val 16000"/>
            </a:avLst>
          </a:prstGeom>
          <a:solidFill>
            <a:schemeClr val="accent3"/>
          </a:solidFill>
          <a:ln w="9525">
            <a:solidFill>
              <a:srgbClr val="B7E4C7"/>
            </a:solidFill>
            <a:prstDash val="solid"/>
          </a:ln>
        </p:spPr>
      </p:sp>
      <p:sp>
        <p:nvSpPr>
          <p:cNvPr id="8" name="g01 Input text"/>
          <p:cNvSpPr txBox="1"/>
          <p:nvPr/>
        </p:nvSpPr>
        <p:spPr>
          <a:xfrm>
            <a:off x="457200" y="1097280"/>
            <a:ext cx="8229600" cy="457200"/>
          </a:xfrm>
          <a:prstGeom prst="rect">
            <a:avLst/>
          </a:prstGeom>
          <a:noFill/>
          <a:ln/>
        </p:spPr>
        <p:txBody>
          <a:bodyPr wrap="square" lIns="0" tIns="0" rIns="0" bIns="0" rtlCol="0" anchor="ctr"/>
          <a:lstStyle/>
          <a:p>
            <a:pPr algn="ctr" indent="0" marL="0">
              <a:buNone/>
            </a:pPr>
            <a:r>
              <a:rPr lang="en-US" sz="1200" b="1" dirty="0">
                <a:solidFill>
                  <a:srgbClr val="0E241A"/>
                </a:solidFill>
              </a:rPr>
              <a:t>Donor sends one message: text, voice transcript or photo description</a:t>
            </a:r>
            <a:endParaRPr lang="en-US" sz="1200" dirty="0"/>
          </a:p>
        </p:txBody>
      </p:sp>
      <p:sp>
        <p:nvSpPr>
          <p:cNvPr id="9" name="g01 Orchestrator note"/>
          <p:cNvSpPr txBox="1"/>
          <p:nvPr/>
        </p:nvSpPr>
        <p:spPr>
          <a:xfrm>
            <a:off x="457200" y="1645920"/>
            <a:ext cx="8229600" cy="228600"/>
          </a:xfrm>
          <a:prstGeom prst="rect">
            <a:avLst/>
          </a:prstGeom>
          <a:noFill/>
          <a:ln/>
        </p:spPr>
        <p:txBody>
          <a:bodyPr wrap="square" lIns="0" tIns="0" rIns="0" bIns="0" rtlCol="0" anchor="ctr"/>
          <a:lstStyle/>
          <a:p>
            <a:pPr algn="ctr" indent="0" marL="0">
              <a:buNone/>
            </a:pPr>
            <a:r>
              <a:rPr lang="en-US" sz="1000" i="1" dirty="0">
                <a:solidFill>
                  <a:schemeClr val="accent5"/>
                </a:solidFill>
              </a:rPr>
              <a:t>Orchestrator skill chains every step</a:t>
            </a:r>
            <a:endParaRPr lang="en-US" sz="1000" dirty="0"/>
          </a:p>
        </p:txBody>
      </p:sp>
      <p:sp>
        <p:nvSpPr>
          <p:cNvPr id="10" name="g01 Pipeline line wipe"/>
          <p:cNvSpPr/>
          <p:nvPr/>
        </p:nvSpPr>
        <p:spPr>
          <a:xfrm>
            <a:off x="1143000" y="2249424"/>
            <a:ext cx="6858000" cy="0"/>
          </a:xfrm>
          <a:prstGeom prst="line">
            <a:avLst/>
          </a:prstGeom>
          <a:noFill/>
          <a:ln w="31750">
            <a:solidFill>
              <a:srgbClr val="2D9A5B"/>
            </a:solidFill>
            <a:prstDash val="solid"/>
          </a:ln>
        </p:spPr>
      </p:sp>
      <p:sp>
        <p:nvSpPr>
          <p:cNvPr id="11" name="g02 Node 1"/>
          <p:cNvSpPr/>
          <p:nvPr/>
        </p:nvSpPr>
        <p:spPr>
          <a:xfrm>
            <a:off x="859536" y="1965960"/>
            <a:ext cx="566928" cy="566928"/>
          </a:xfrm>
          <a:prstGeom prst="ellipse">
            <a:avLst/>
          </a:prstGeom>
          <a:solidFill>
            <a:schemeClr val="accent2"/>
          </a:solidFill>
          <a:ln w="38100">
            <a:solidFill>
              <a:srgbClr val="0E241A"/>
            </a:solidFill>
            <a:prstDash val="solid"/>
          </a:ln>
        </p:spPr>
      </p:sp>
      <p:sp>
        <p:nvSpPr>
          <p:cNvPr id="12" name="g02 Node num 1"/>
          <p:cNvSpPr txBox="1"/>
          <p:nvPr/>
        </p:nvSpPr>
        <p:spPr>
          <a:xfrm>
            <a:off x="859536" y="19659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3" name="g02 Node label 1"/>
          <p:cNvSpPr txBox="1"/>
          <p:nvPr/>
        </p:nvSpPr>
        <p:spPr>
          <a:xfrm>
            <a:off x="502920" y="2633472"/>
            <a:ext cx="1280160" cy="457200"/>
          </a:xfrm>
          <a:prstGeom prst="rect">
            <a:avLst/>
          </a:prstGeom>
          <a:noFill/>
          <a:ln/>
        </p:spPr>
        <p:txBody>
          <a:bodyPr wrap="square" lIns="0" tIns="0" rIns="0" bIns="0" rtlCol="0" anchor="t"/>
          <a:lstStyle/>
          <a:p>
            <a:pPr algn="ctr" indent="0" marL="0">
              <a:buNone/>
            </a:pPr>
            <a:r>
              <a:rPr lang="en-US" sz="1200" b="1" dirty="0">
                <a:solidFill>
                  <a:schemeClr val="accent1"/>
                </a:solidFill>
              </a:rPr>
              <a:t>Intake</a:t>
            </a:r>
            <a:endParaRPr lang="en-US" sz="1200" dirty="0"/>
          </a:p>
          <a:p>
            <a:pPr algn="ctr" indent="0" marL="0">
              <a:buNone/>
            </a:pPr>
            <a:r>
              <a:rPr lang="en-US" sz="950" dirty="0">
                <a:solidFill>
                  <a:schemeClr val="accent3"/>
                </a:solidFill>
              </a:rPr>
              <a:t>Text to JSON</a:t>
            </a:r>
            <a:endParaRPr lang="en-US" sz="1200" dirty="0"/>
          </a:p>
        </p:txBody>
      </p:sp>
      <p:sp>
        <p:nvSpPr>
          <p:cNvPr id="14" name="g03 Node 2"/>
          <p:cNvSpPr/>
          <p:nvPr/>
        </p:nvSpPr>
        <p:spPr>
          <a:xfrm>
            <a:off x="2231136" y="1965960"/>
            <a:ext cx="566928" cy="566928"/>
          </a:xfrm>
          <a:prstGeom prst="ellipse">
            <a:avLst/>
          </a:prstGeom>
          <a:solidFill>
            <a:schemeClr val="accent1"/>
          </a:solidFill>
          <a:ln w="38100">
            <a:solidFill>
              <a:srgbClr val="0E241A"/>
            </a:solidFill>
            <a:prstDash val="solid"/>
          </a:ln>
        </p:spPr>
      </p:sp>
      <p:sp>
        <p:nvSpPr>
          <p:cNvPr id="15" name="g03 Node num 2"/>
          <p:cNvSpPr txBox="1"/>
          <p:nvPr/>
        </p:nvSpPr>
        <p:spPr>
          <a:xfrm>
            <a:off x="2231136" y="1965960"/>
            <a:ext cx="566928" cy="566928"/>
          </a:xfrm>
          <a:prstGeom prst="rect">
            <a:avLst/>
          </a:prstGeom>
          <a:noFill/>
          <a:ln/>
        </p:spPr>
        <p:txBody>
          <a:bodyPr wrap="square" lIns="0" tIns="0" rIns="0" bIns="0" rtlCol="0" anchor="ctr"/>
          <a:lstStyle/>
          <a:p>
            <a:pPr algn="ctr" indent="0" marL="0">
              <a:buNone/>
            </a:pPr>
            <a:r>
              <a:rPr lang="en-US" sz="1600" b="1" dirty="0">
                <a:solidFill>
                  <a:srgbClr val="0E241A"/>
                </a:solidFill>
              </a:rPr>
              <a:t>2</a:t>
            </a:r>
            <a:endParaRPr lang="en-US" sz="1600" dirty="0"/>
          </a:p>
        </p:txBody>
      </p:sp>
      <p:sp>
        <p:nvSpPr>
          <p:cNvPr id="16" name="g03 Node label 2"/>
          <p:cNvSpPr txBox="1"/>
          <p:nvPr/>
        </p:nvSpPr>
        <p:spPr>
          <a:xfrm>
            <a:off x="1874520" y="2633472"/>
            <a:ext cx="1280160" cy="457200"/>
          </a:xfrm>
          <a:prstGeom prst="rect">
            <a:avLst/>
          </a:prstGeom>
          <a:noFill/>
          <a:ln/>
        </p:spPr>
        <p:txBody>
          <a:bodyPr wrap="square" lIns="0" tIns="0" rIns="0" bIns="0" rtlCol="0" anchor="t"/>
          <a:lstStyle/>
          <a:p>
            <a:pPr algn="ctr" indent="0" marL="0">
              <a:buNone/>
            </a:pPr>
            <a:r>
              <a:rPr lang="en-US" sz="1200" b="1" dirty="0">
                <a:solidFill>
                  <a:schemeClr val="accent1"/>
                </a:solidFill>
              </a:rPr>
              <a:t>Safety</a:t>
            </a:r>
            <a:endParaRPr lang="en-US" sz="1200" dirty="0"/>
          </a:p>
          <a:p>
            <a:pPr algn="ctr" indent="0" marL="0">
              <a:buNone/>
            </a:pPr>
            <a:r>
              <a:rPr lang="en-US" sz="950" dirty="0">
                <a:solidFill>
                  <a:schemeClr val="accent3"/>
                </a:solidFill>
              </a:rPr>
              <a:t>Time-window gate</a:t>
            </a:r>
            <a:endParaRPr lang="en-US" sz="1200" dirty="0"/>
          </a:p>
        </p:txBody>
      </p:sp>
      <p:sp>
        <p:nvSpPr>
          <p:cNvPr id="17" name="g04 Node 3"/>
          <p:cNvSpPr/>
          <p:nvPr/>
        </p:nvSpPr>
        <p:spPr>
          <a:xfrm>
            <a:off x="3602736" y="1965960"/>
            <a:ext cx="566928" cy="566928"/>
          </a:xfrm>
          <a:prstGeom prst="ellipse">
            <a:avLst/>
          </a:prstGeom>
          <a:solidFill>
            <a:schemeClr val="accent2"/>
          </a:solidFill>
          <a:ln w="38100">
            <a:solidFill>
              <a:srgbClr val="0E241A"/>
            </a:solidFill>
            <a:prstDash val="solid"/>
          </a:ln>
        </p:spPr>
      </p:sp>
      <p:sp>
        <p:nvSpPr>
          <p:cNvPr id="18" name="g04 Node num 3"/>
          <p:cNvSpPr txBox="1"/>
          <p:nvPr/>
        </p:nvSpPr>
        <p:spPr>
          <a:xfrm>
            <a:off x="3602736" y="19659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g04 Node label 3"/>
          <p:cNvSpPr txBox="1"/>
          <p:nvPr/>
        </p:nvSpPr>
        <p:spPr>
          <a:xfrm>
            <a:off x="3246120" y="2633472"/>
            <a:ext cx="1280160" cy="457200"/>
          </a:xfrm>
          <a:prstGeom prst="rect">
            <a:avLst/>
          </a:prstGeom>
          <a:noFill/>
          <a:ln/>
        </p:spPr>
        <p:txBody>
          <a:bodyPr wrap="square" lIns="0" tIns="0" rIns="0" bIns="0" rtlCol="0" anchor="t"/>
          <a:lstStyle/>
          <a:p>
            <a:pPr algn="ctr" indent="0" marL="0">
              <a:buNone/>
            </a:pPr>
            <a:r>
              <a:rPr lang="en-US" sz="1200" b="1" dirty="0">
                <a:solidFill>
                  <a:schemeClr val="accent1"/>
                </a:solidFill>
              </a:rPr>
              <a:t>Match</a:t>
            </a:r>
            <a:endParaRPr lang="en-US" sz="1200" dirty="0"/>
          </a:p>
          <a:p>
            <a:pPr algn="ctr" indent="0" marL="0">
              <a:buNone/>
            </a:pPr>
            <a:r>
              <a:rPr lang="en-US" sz="950" dirty="0">
                <a:solidFill>
                  <a:schemeClr val="accent3"/>
                </a:solidFill>
              </a:rPr>
              <a:t>Score recipients</a:t>
            </a:r>
            <a:endParaRPr lang="en-US" sz="1200" dirty="0"/>
          </a:p>
        </p:txBody>
      </p:sp>
      <p:sp>
        <p:nvSpPr>
          <p:cNvPr id="20" name="g05 Node 4"/>
          <p:cNvSpPr/>
          <p:nvPr/>
        </p:nvSpPr>
        <p:spPr>
          <a:xfrm>
            <a:off x="4974336" y="1965960"/>
            <a:ext cx="566928" cy="566928"/>
          </a:xfrm>
          <a:prstGeom prst="ellipse">
            <a:avLst/>
          </a:prstGeom>
          <a:solidFill>
            <a:schemeClr val="accent2"/>
          </a:solidFill>
          <a:ln w="38100">
            <a:solidFill>
              <a:srgbClr val="0E241A"/>
            </a:solidFill>
            <a:prstDash val="solid"/>
          </a:ln>
        </p:spPr>
      </p:sp>
      <p:sp>
        <p:nvSpPr>
          <p:cNvPr id="21" name="g05 Node num 4"/>
          <p:cNvSpPr txBox="1"/>
          <p:nvPr/>
        </p:nvSpPr>
        <p:spPr>
          <a:xfrm>
            <a:off x="4974336" y="19659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g05 Node label 4"/>
          <p:cNvSpPr txBox="1"/>
          <p:nvPr/>
        </p:nvSpPr>
        <p:spPr>
          <a:xfrm>
            <a:off x="4617720" y="2633472"/>
            <a:ext cx="1280160" cy="457200"/>
          </a:xfrm>
          <a:prstGeom prst="rect">
            <a:avLst/>
          </a:prstGeom>
          <a:noFill/>
          <a:ln/>
        </p:spPr>
        <p:txBody>
          <a:bodyPr wrap="square" lIns="0" tIns="0" rIns="0" bIns="0" rtlCol="0" anchor="t"/>
          <a:lstStyle/>
          <a:p>
            <a:pPr algn="ctr" indent="0" marL="0">
              <a:buNone/>
            </a:pPr>
            <a:r>
              <a:rPr lang="en-US" sz="1200" b="1" dirty="0">
                <a:solidFill>
                  <a:schemeClr val="accent1"/>
                </a:solidFill>
              </a:rPr>
              <a:t>Pickup</a:t>
            </a:r>
            <a:endParaRPr lang="en-US" sz="1200" dirty="0"/>
          </a:p>
          <a:p>
            <a:pPr algn="ctr" indent="0" marL="0">
              <a:buNone/>
            </a:pPr>
            <a:r>
              <a:rPr lang="en-US" sz="950" dirty="0">
                <a:solidFill>
                  <a:schemeClr val="accent3"/>
                </a:solidFill>
              </a:rPr>
              <a:t>Route volunteer</a:t>
            </a:r>
            <a:endParaRPr lang="en-US" sz="1200" dirty="0"/>
          </a:p>
        </p:txBody>
      </p:sp>
      <p:sp>
        <p:nvSpPr>
          <p:cNvPr id="23" name="g06 Node 5"/>
          <p:cNvSpPr/>
          <p:nvPr/>
        </p:nvSpPr>
        <p:spPr>
          <a:xfrm>
            <a:off x="6345936" y="1965960"/>
            <a:ext cx="566928" cy="566928"/>
          </a:xfrm>
          <a:prstGeom prst="ellipse">
            <a:avLst/>
          </a:prstGeom>
          <a:solidFill>
            <a:schemeClr val="accent2"/>
          </a:solidFill>
          <a:ln w="38100">
            <a:solidFill>
              <a:srgbClr val="0E241A"/>
            </a:solidFill>
            <a:prstDash val="solid"/>
          </a:ln>
        </p:spPr>
      </p:sp>
      <p:sp>
        <p:nvSpPr>
          <p:cNvPr id="24" name="g06 Node num 5"/>
          <p:cNvSpPr txBox="1"/>
          <p:nvPr/>
        </p:nvSpPr>
        <p:spPr>
          <a:xfrm>
            <a:off x="6345936" y="19659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5" name="g06 Node label 5"/>
          <p:cNvSpPr txBox="1"/>
          <p:nvPr/>
        </p:nvSpPr>
        <p:spPr>
          <a:xfrm>
            <a:off x="5989320" y="2633472"/>
            <a:ext cx="1280160" cy="457200"/>
          </a:xfrm>
          <a:prstGeom prst="rect">
            <a:avLst/>
          </a:prstGeom>
          <a:noFill/>
          <a:ln/>
        </p:spPr>
        <p:txBody>
          <a:bodyPr wrap="square" lIns="0" tIns="0" rIns="0" bIns="0" rtlCol="0" anchor="t"/>
          <a:lstStyle/>
          <a:p>
            <a:pPr algn="ctr" indent="0" marL="0">
              <a:buNone/>
            </a:pPr>
            <a:r>
              <a:rPr lang="en-US" sz="1200" b="1" dirty="0">
                <a:solidFill>
                  <a:schemeClr val="accent1"/>
                </a:solidFill>
              </a:rPr>
              <a:t>Notify</a:t>
            </a:r>
            <a:endParaRPr lang="en-US" sz="1200" dirty="0"/>
          </a:p>
          <a:p>
            <a:pPr algn="ctr" indent="0" marL="0">
              <a:buNone/>
            </a:pPr>
            <a:r>
              <a:rPr lang="en-US" sz="950" dirty="0">
                <a:solidFill>
                  <a:schemeClr val="accent3"/>
                </a:solidFill>
              </a:rPr>
              <a:t>EN / HI / OD</a:t>
            </a:r>
            <a:endParaRPr lang="en-US" sz="1200" dirty="0"/>
          </a:p>
        </p:txBody>
      </p:sp>
      <p:sp>
        <p:nvSpPr>
          <p:cNvPr id="26" name="g07 Node 6"/>
          <p:cNvSpPr/>
          <p:nvPr/>
        </p:nvSpPr>
        <p:spPr>
          <a:xfrm>
            <a:off x="7717536" y="1965960"/>
            <a:ext cx="566928" cy="566928"/>
          </a:xfrm>
          <a:prstGeom prst="ellipse">
            <a:avLst/>
          </a:prstGeom>
          <a:solidFill>
            <a:schemeClr val="accent2"/>
          </a:solidFill>
          <a:ln w="38100">
            <a:solidFill>
              <a:srgbClr val="0E241A"/>
            </a:solidFill>
            <a:prstDash val="solid"/>
          </a:ln>
        </p:spPr>
      </p:sp>
      <p:sp>
        <p:nvSpPr>
          <p:cNvPr id="27" name="g07 Node num 6"/>
          <p:cNvSpPr txBox="1"/>
          <p:nvPr/>
        </p:nvSpPr>
        <p:spPr>
          <a:xfrm>
            <a:off x="7717536" y="196596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8" name="g07 Node label 6"/>
          <p:cNvSpPr txBox="1"/>
          <p:nvPr/>
        </p:nvSpPr>
        <p:spPr>
          <a:xfrm>
            <a:off x="7360920" y="2633472"/>
            <a:ext cx="1280160" cy="457200"/>
          </a:xfrm>
          <a:prstGeom prst="rect">
            <a:avLst/>
          </a:prstGeom>
          <a:noFill/>
          <a:ln/>
        </p:spPr>
        <p:txBody>
          <a:bodyPr wrap="square" lIns="0" tIns="0" rIns="0" bIns="0" rtlCol="0" anchor="t"/>
          <a:lstStyle/>
          <a:p>
            <a:pPr algn="ctr" indent="0" marL="0">
              <a:buNone/>
            </a:pPr>
            <a:r>
              <a:rPr lang="en-US" sz="1200" b="1" dirty="0">
                <a:solidFill>
                  <a:schemeClr val="accent1"/>
                </a:solidFill>
              </a:rPr>
              <a:t>Impact</a:t>
            </a:r>
            <a:endParaRPr lang="en-US" sz="1200" dirty="0"/>
          </a:p>
          <a:p>
            <a:pPr algn="ctr" indent="0" marL="0">
              <a:buNone/>
            </a:pPr>
            <a:r>
              <a:rPr lang="en-US" sz="950" dirty="0">
                <a:solidFill>
                  <a:schemeClr val="accent3"/>
                </a:solidFill>
              </a:rPr>
              <a:t>Meals, kg, CO2e</a:t>
            </a:r>
            <a:endParaRPr lang="en-US" sz="1200" dirty="0"/>
          </a:p>
        </p:txBody>
      </p:sp>
      <p:sp>
        <p:nvSpPr>
          <p:cNvPr id="29" name="g08 Reject box"/>
          <p:cNvSpPr/>
          <p:nvPr/>
        </p:nvSpPr>
        <p:spPr>
          <a:xfrm>
            <a:off x="1828800" y="3154680"/>
            <a:ext cx="1371600" cy="292608"/>
          </a:xfrm>
          <a:prstGeom prst="roundRect">
            <a:avLst>
              <a:gd name="adj" fmla="val 25000"/>
            </a:avLst>
          </a:prstGeom>
          <a:solidFill>
            <a:schemeClr val="accent4"/>
          </a:solidFill>
          <a:ln w="9525">
            <a:solidFill>
              <a:srgbClr val="E76F51"/>
            </a:solidFill>
            <a:prstDash val="solid"/>
          </a:ln>
        </p:spPr>
      </p:sp>
      <p:sp>
        <p:nvSpPr>
          <p:cNvPr id="30" name="g08 Reject text"/>
          <p:cNvSpPr txBox="1"/>
          <p:nvPr/>
        </p:nvSpPr>
        <p:spPr>
          <a:xfrm>
            <a:off x="1828800" y="3154680"/>
            <a:ext cx="1371600" cy="292608"/>
          </a:xfrm>
          <a:prstGeom prst="rect">
            <a:avLst/>
          </a:prstGeom>
          <a:noFill/>
          <a:ln/>
        </p:spPr>
        <p:txBody>
          <a:bodyPr wrap="square" lIns="0" tIns="0" rIns="0" bIns="0" rtlCol="0" anchor="ctr"/>
          <a:lstStyle/>
          <a:p>
            <a:pPr algn="ctr" indent="0" marL="0">
              <a:buNone/>
            </a:pPr>
            <a:r>
              <a:rPr lang="en-US" sz="1000" b="1" dirty="0">
                <a:solidFill>
                  <a:schemeClr val="bg1"/>
                </a:solidFill>
              </a:rPr>
              <a:t>REJECT: stop chain</a:t>
            </a:r>
            <a:endParaRPr lang="en-US" sz="1000" dirty="0"/>
          </a:p>
        </p:txBody>
      </p:sp>
      <p:sp>
        <p:nvSpPr>
          <p:cNvPr id="31" name="g09 DATA label"/>
          <p:cNvSpPr txBox="1"/>
          <p:nvPr/>
        </p:nvSpPr>
        <p:spPr>
          <a:xfrm>
            <a:off x="457200" y="3611880"/>
            <a:ext cx="914400" cy="384048"/>
          </a:xfrm>
          <a:prstGeom prst="rect">
            <a:avLst/>
          </a:prstGeom>
          <a:noFill/>
          <a:ln/>
        </p:spPr>
        <p:txBody>
          <a:bodyPr wrap="square" lIns="0" tIns="0" rIns="0" bIns="0" rtlCol="0" anchor="ctr"/>
          <a:lstStyle/>
          <a:p>
            <a:pPr indent="0" marL="0">
              <a:buNone/>
            </a:pPr>
            <a:r>
              <a:rPr lang="en-US" sz="1000" b="1" spc="200" kern="0" dirty="0">
                <a:solidFill>
                  <a:schemeClr val="accent1"/>
                </a:solidFill>
              </a:rPr>
              <a:t>DATA</a:t>
            </a:r>
            <a:endParaRPr lang="en-US" sz="1000" dirty="0"/>
          </a:p>
        </p:txBody>
      </p:sp>
      <p:sp>
        <p:nvSpPr>
          <p:cNvPr id="32" name="g09 DATA card 1"/>
          <p:cNvSpPr/>
          <p:nvPr/>
        </p:nvSpPr>
        <p:spPr>
          <a:xfrm>
            <a:off x="1463040" y="3611880"/>
            <a:ext cx="1737360" cy="384048"/>
          </a:xfrm>
          <a:prstGeom prst="roundRect">
            <a:avLst>
              <a:gd name="adj" fmla="val 19048"/>
            </a:avLst>
          </a:prstGeom>
          <a:solidFill>
            <a:schemeClr val="tx2"/>
          </a:solidFill>
          <a:ln w="9525">
            <a:solidFill>
              <a:srgbClr val="2A5A43"/>
            </a:solidFill>
            <a:prstDash val="solid"/>
          </a:ln>
        </p:spPr>
      </p:sp>
      <p:sp>
        <p:nvSpPr>
          <p:cNvPr id="33" name="g09 DATA text 1"/>
          <p:cNvSpPr txBox="1"/>
          <p:nvPr/>
        </p:nvSpPr>
        <p:spPr>
          <a:xfrm>
            <a:off x="1463040" y="3611880"/>
            <a:ext cx="1737360" cy="384048"/>
          </a:xfrm>
          <a:prstGeom prst="rect">
            <a:avLst/>
          </a:prstGeom>
          <a:noFill/>
          <a:ln/>
        </p:spPr>
        <p:txBody>
          <a:bodyPr wrap="square" lIns="0" tIns="0" rIns="0" bIns="0" rtlCol="0" anchor="ctr"/>
          <a:lstStyle/>
          <a:p>
            <a:pPr algn="ctr" indent="0" marL="0">
              <a:buNone/>
            </a:pPr>
            <a:r>
              <a:rPr lang="en-US" sz="1100" b="1" dirty="0">
                <a:solidFill>
                  <a:schemeClr val="bg1"/>
                </a:solidFill>
              </a:rPr>
              <a:t>recipients.csv</a:t>
            </a:r>
            <a:endParaRPr lang="en-US" sz="1100" dirty="0"/>
          </a:p>
        </p:txBody>
      </p:sp>
      <p:sp>
        <p:nvSpPr>
          <p:cNvPr id="34" name="g09 DATA card 2"/>
          <p:cNvSpPr/>
          <p:nvPr/>
        </p:nvSpPr>
        <p:spPr>
          <a:xfrm>
            <a:off x="3291840" y="3611880"/>
            <a:ext cx="1737360" cy="384048"/>
          </a:xfrm>
          <a:prstGeom prst="roundRect">
            <a:avLst>
              <a:gd name="adj" fmla="val 19048"/>
            </a:avLst>
          </a:prstGeom>
          <a:solidFill>
            <a:schemeClr val="tx2"/>
          </a:solidFill>
          <a:ln w="9525">
            <a:solidFill>
              <a:srgbClr val="2A5A43"/>
            </a:solidFill>
            <a:prstDash val="solid"/>
          </a:ln>
        </p:spPr>
      </p:sp>
      <p:sp>
        <p:nvSpPr>
          <p:cNvPr id="35" name="g09 DATA text 2"/>
          <p:cNvSpPr txBox="1"/>
          <p:nvPr/>
        </p:nvSpPr>
        <p:spPr>
          <a:xfrm>
            <a:off x="3291840" y="3611880"/>
            <a:ext cx="1737360" cy="384048"/>
          </a:xfrm>
          <a:prstGeom prst="rect">
            <a:avLst/>
          </a:prstGeom>
          <a:noFill/>
          <a:ln/>
        </p:spPr>
        <p:txBody>
          <a:bodyPr wrap="square" lIns="0" tIns="0" rIns="0" bIns="0" rtlCol="0" anchor="ctr"/>
          <a:lstStyle/>
          <a:p>
            <a:pPr algn="ctr" indent="0" marL="0">
              <a:buNone/>
            </a:pPr>
            <a:r>
              <a:rPr lang="en-US" sz="1100" b="1" dirty="0">
                <a:solidFill>
                  <a:schemeClr val="bg1"/>
                </a:solidFill>
              </a:rPr>
              <a:t>volunteers.csv</a:t>
            </a:r>
            <a:endParaRPr lang="en-US" sz="1100" dirty="0"/>
          </a:p>
        </p:txBody>
      </p:sp>
      <p:sp>
        <p:nvSpPr>
          <p:cNvPr id="36" name="g09 DATA card 3"/>
          <p:cNvSpPr/>
          <p:nvPr/>
        </p:nvSpPr>
        <p:spPr>
          <a:xfrm>
            <a:off x="5120640" y="3611880"/>
            <a:ext cx="1737360" cy="384048"/>
          </a:xfrm>
          <a:prstGeom prst="roundRect">
            <a:avLst>
              <a:gd name="adj" fmla="val 19048"/>
            </a:avLst>
          </a:prstGeom>
          <a:solidFill>
            <a:schemeClr val="tx2"/>
          </a:solidFill>
          <a:ln w="9525">
            <a:solidFill>
              <a:srgbClr val="2A5A43"/>
            </a:solidFill>
            <a:prstDash val="solid"/>
          </a:ln>
        </p:spPr>
      </p:sp>
      <p:sp>
        <p:nvSpPr>
          <p:cNvPr id="37" name="g09 DATA text 3"/>
          <p:cNvSpPr txBox="1"/>
          <p:nvPr/>
        </p:nvSpPr>
        <p:spPr>
          <a:xfrm>
            <a:off x="5120640" y="3611880"/>
            <a:ext cx="1737360" cy="384048"/>
          </a:xfrm>
          <a:prstGeom prst="rect">
            <a:avLst/>
          </a:prstGeom>
          <a:noFill/>
          <a:ln/>
        </p:spPr>
        <p:txBody>
          <a:bodyPr wrap="square" lIns="0" tIns="0" rIns="0" bIns="0" rtlCol="0" anchor="ctr"/>
          <a:lstStyle/>
          <a:p>
            <a:pPr algn="ctr" indent="0" marL="0">
              <a:buNone/>
            </a:pPr>
            <a:r>
              <a:rPr lang="en-US" sz="1100" b="1" dirty="0">
                <a:solidFill>
                  <a:schemeClr val="bg1"/>
                </a:solidFill>
              </a:rPr>
              <a:t>safety_rules.md</a:t>
            </a:r>
            <a:endParaRPr lang="en-US" sz="1100" dirty="0"/>
          </a:p>
        </p:txBody>
      </p:sp>
      <p:sp>
        <p:nvSpPr>
          <p:cNvPr id="38" name="g09 DATA card 4"/>
          <p:cNvSpPr/>
          <p:nvPr/>
        </p:nvSpPr>
        <p:spPr>
          <a:xfrm>
            <a:off x="6949440" y="3611880"/>
            <a:ext cx="1737360" cy="384048"/>
          </a:xfrm>
          <a:prstGeom prst="roundRect">
            <a:avLst>
              <a:gd name="adj" fmla="val 19048"/>
            </a:avLst>
          </a:prstGeom>
          <a:solidFill>
            <a:schemeClr val="tx2"/>
          </a:solidFill>
          <a:ln w="9525">
            <a:solidFill>
              <a:srgbClr val="2A5A43"/>
            </a:solidFill>
            <a:prstDash val="solid"/>
          </a:ln>
        </p:spPr>
      </p:sp>
      <p:sp>
        <p:nvSpPr>
          <p:cNvPr id="39" name="g09 DATA text 4"/>
          <p:cNvSpPr txBox="1"/>
          <p:nvPr/>
        </p:nvSpPr>
        <p:spPr>
          <a:xfrm>
            <a:off x="6949440" y="3611880"/>
            <a:ext cx="1737360" cy="384048"/>
          </a:xfrm>
          <a:prstGeom prst="rect">
            <a:avLst/>
          </a:prstGeom>
          <a:noFill/>
          <a:ln/>
        </p:spPr>
        <p:txBody>
          <a:bodyPr wrap="square" lIns="0" tIns="0" rIns="0" bIns="0" rtlCol="0" anchor="ctr"/>
          <a:lstStyle/>
          <a:p>
            <a:pPr algn="ctr" indent="0" marL="0">
              <a:buNone/>
            </a:pPr>
            <a:r>
              <a:rPr lang="en-US" sz="1100" b="1" dirty="0">
                <a:solidFill>
                  <a:schemeClr val="bg1"/>
                </a:solidFill>
              </a:rPr>
              <a:t>ledger.csv</a:t>
            </a:r>
            <a:endParaRPr lang="en-US" sz="1100" dirty="0"/>
          </a:p>
        </p:txBody>
      </p:sp>
      <p:sp>
        <p:nvSpPr>
          <p:cNvPr id="40" name="g10 OUTPUT label"/>
          <p:cNvSpPr txBox="1"/>
          <p:nvPr/>
        </p:nvSpPr>
        <p:spPr>
          <a:xfrm>
            <a:off x="457200" y="4114800"/>
            <a:ext cx="914400" cy="384048"/>
          </a:xfrm>
          <a:prstGeom prst="rect">
            <a:avLst/>
          </a:prstGeom>
          <a:noFill/>
          <a:ln/>
        </p:spPr>
        <p:txBody>
          <a:bodyPr wrap="square" lIns="0" tIns="0" rIns="0" bIns="0" rtlCol="0" anchor="ctr"/>
          <a:lstStyle/>
          <a:p>
            <a:pPr indent="0" marL="0">
              <a:buNone/>
            </a:pPr>
            <a:r>
              <a:rPr lang="en-US" sz="1000" b="1" spc="200" kern="0" dirty="0">
                <a:solidFill>
                  <a:schemeClr val="accent1"/>
                </a:solidFill>
              </a:rPr>
              <a:t>OUTPUT</a:t>
            </a:r>
            <a:endParaRPr lang="en-US" sz="1000" dirty="0"/>
          </a:p>
        </p:txBody>
      </p:sp>
      <p:sp>
        <p:nvSpPr>
          <p:cNvPr id="41" name="g10 OUTPUT card 1"/>
          <p:cNvSpPr/>
          <p:nvPr/>
        </p:nvSpPr>
        <p:spPr>
          <a:xfrm>
            <a:off x="1463040" y="4114800"/>
            <a:ext cx="2346960" cy="384048"/>
          </a:xfrm>
          <a:prstGeom prst="roundRect">
            <a:avLst>
              <a:gd name="adj" fmla="val 19048"/>
            </a:avLst>
          </a:prstGeom>
          <a:solidFill>
            <a:schemeClr val="accent1"/>
          </a:solidFill>
          <a:ln w="9525">
            <a:solidFill>
              <a:srgbClr val="2A5A43"/>
            </a:solidFill>
            <a:prstDash val="solid"/>
          </a:ln>
        </p:spPr>
      </p:sp>
      <p:sp>
        <p:nvSpPr>
          <p:cNvPr id="42" name="g10 OUTPUT text 1"/>
          <p:cNvSpPr txBox="1"/>
          <p:nvPr/>
        </p:nvSpPr>
        <p:spPr>
          <a:xfrm>
            <a:off x="1463040" y="4114800"/>
            <a:ext cx="2346960" cy="384048"/>
          </a:xfrm>
          <a:prstGeom prst="rect">
            <a:avLst/>
          </a:prstGeom>
          <a:noFill/>
          <a:ln/>
        </p:spPr>
        <p:txBody>
          <a:bodyPr wrap="square" lIns="0" tIns="0" rIns="0" bIns="0" rtlCol="0" anchor="ctr"/>
          <a:lstStyle/>
          <a:p>
            <a:pPr algn="ctr" indent="0" marL="0">
              <a:buNone/>
            </a:pPr>
            <a:r>
              <a:rPr lang="en-US" sz="1100" b="1" dirty="0">
                <a:solidFill>
                  <a:srgbClr val="0E241A"/>
                </a:solidFill>
              </a:rPr>
              <a:t>Live map dashboard</a:t>
            </a:r>
            <a:endParaRPr lang="en-US" sz="1100" dirty="0"/>
          </a:p>
        </p:txBody>
      </p:sp>
      <p:sp>
        <p:nvSpPr>
          <p:cNvPr id="43" name="g10 OUTPUT card 2"/>
          <p:cNvSpPr/>
          <p:nvPr/>
        </p:nvSpPr>
        <p:spPr>
          <a:xfrm>
            <a:off x="3901440" y="4114800"/>
            <a:ext cx="2346960" cy="384048"/>
          </a:xfrm>
          <a:prstGeom prst="roundRect">
            <a:avLst>
              <a:gd name="adj" fmla="val 19048"/>
            </a:avLst>
          </a:prstGeom>
          <a:solidFill>
            <a:schemeClr val="accent1"/>
          </a:solidFill>
          <a:ln w="9525">
            <a:solidFill>
              <a:srgbClr val="2A5A43"/>
            </a:solidFill>
            <a:prstDash val="solid"/>
          </a:ln>
        </p:spPr>
      </p:sp>
      <p:sp>
        <p:nvSpPr>
          <p:cNvPr id="44" name="g10 OUTPUT text 2"/>
          <p:cNvSpPr txBox="1"/>
          <p:nvPr/>
        </p:nvSpPr>
        <p:spPr>
          <a:xfrm>
            <a:off x="3901440" y="4114800"/>
            <a:ext cx="2346960" cy="384048"/>
          </a:xfrm>
          <a:prstGeom prst="rect">
            <a:avLst/>
          </a:prstGeom>
          <a:noFill/>
          <a:ln/>
        </p:spPr>
        <p:txBody>
          <a:bodyPr wrap="square" lIns="0" tIns="0" rIns="0" bIns="0" rtlCol="0" anchor="ctr"/>
          <a:lstStyle/>
          <a:p>
            <a:pPr algn="ctr" indent="0" marL="0">
              <a:buNone/>
            </a:pPr>
            <a:r>
              <a:rPr lang="en-US" sz="1100" b="1" dirty="0">
                <a:solidFill>
                  <a:srgbClr val="0E241A"/>
                </a:solidFill>
              </a:rPr>
              <a:t>WhatsApp-ready messages</a:t>
            </a:r>
            <a:endParaRPr lang="en-US" sz="1100" dirty="0"/>
          </a:p>
        </p:txBody>
      </p:sp>
      <p:sp>
        <p:nvSpPr>
          <p:cNvPr id="45" name="g10 OUTPUT card 3"/>
          <p:cNvSpPr/>
          <p:nvPr/>
        </p:nvSpPr>
        <p:spPr>
          <a:xfrm>
            <a:off x="6339840" y="4114800"/>
            <a:ext cx="2346960" cy="384048"/>
          </a:xfrm>
          <a:prstGeom prst="roundRect">
            <a:avLst>
              <a:gd name="adj" fmla="val 19048"/>
            </a:avLst>
          </a:prstGeom>
          <a:solidFill>
            <a:schemeClr val="accent1"/>
          </a:solidFill>
          <a:ln w="9525">
            <a:solidFill>
              <a:srgbClr val="2A5A43"/>
            </a:solidFill>
            <a:prstDash val="solid"/>
          </a:ln>
        </p:spPr>
      </p:sp>
      <p:sp>
        <p:nvSpPr>
          <p:cNvPr id="46" name="g10 OUTPUT text 3"/>
          <p:cNvSpPr txBox="1"/>
          <p:nvPr/>
        </p:nvSpPr>
        <p:spPr>
          <a:xfrm>
            <a:off x="6339840" y="4114800"/>
            <a:ext cx="2346960" cy="384048"/>
          </a:xfrm>
          <a:prstGeom prst="rect">
            <a:avLst/>
          </a:prstGeom>
          <a:noFill/>
          <a:ln/>
        </p:spPr>
        <p:txBody>
          <a:bodyPr wrap="square" lIns="0" tIns="0" rIns="0" bIns="0" rtlCol="0" anchor="ctr"/>
          <a:lstStyle/>
          <a:p>
            <a:pPr algn="ctr" indent="0" marL="0">
              <a:buNone/>
            </a:pPr>
            <a:r>
              <a:rPr lang="en-US" sz="1100" b="1" dirty="0">
                <a:solidFill>
                  <a:srgbClr val="0E241A"/>
                </a:solidFill>
              </a:rPr>
              <a:t>Impact ledger</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A79A"/>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00"/>
                                        <p:tgtEl>
                                          <p:spTgt spid="5"/>
                                        </p:tgtEl>
                                      </p:cBhvr>
                                    </p:animEffect>
                                  </p:childTnLst>
                                </p:cTn>
                              </p:par>
                              <p:par>
                                <p:cTn id="8" presetID="10" presetClass="entr" presetSubtype="0" fill="hold" nodeType="withEffect">
                                  <p:stCondLst>
                                    <p:cond delay="3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3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3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22" presetClass="entr" presetSubtype="8" fill="hold" nodeType="withEffect">
                                  <p:stCondLst>
                                    <p:cond delay="30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700"/>
                                        <p:tgtEl>
                                          <p:spTgt spid="10"/>
                                        </p:tgtEl>
                                      </p:cBhvr>
                                    </p:animEffect>
                                  </p:childTnLst>
                                </p:cTn>
                              </p:par>
                              <p:par>
                                <p:cTn id="20" presetID="10" presetClass="entr" presetSubtype="0" fill="hold" nodeType="withEffect">
                                  <p:stCondLst>
                                    <p:cond delay="6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6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6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9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9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9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120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12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nodeType="withEffect">
                                  <p:stCondLst>
                                    <p:cond delay="12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nodeType="withEffect">
                                  <p:stCondLst>
                                    <p:cond delay="15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nodeType="withEffect">
                                  <p:stCondLst>
                                    <p:cond delay="150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nodeType="withEffect">
                                  <p:stCondLst>
                                    <p:cond delay="150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180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nodeType="withEffect">
                                  <p:stCondLst>
                                    <p:cond delay="180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nodeType="withEffect">
                                  <p:stCondLst>
                                    <p:cond delay="180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nodeType="withEffect">
                                  <p:stCondLst>
                                    <p:cond delay="210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nodeType="withEffect">
                                  <p:stCondLst>
                                    <p:cond delay="210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nodeType="withEffect">
                                  <p:stCondLst>
                                    <p:cond delay="210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nodeType="withEffect">
                                  <p:stCondLst>
                                    <p:cond delay="240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nodeType="withEffect">
                                  <p:stCondLst>
                                    <p:cond delay="240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nodeType="withEffect">
                                  <p:stCondLst>
                                    <p:cond delay="270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nodeType="withEffect">
                                  <p:stCondLst>
                                    <p:cond delay="270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par>
                                <p:cTn id="86" presetID="10" presetClass="entr" presetSubtype="0" fill="hold" nodeType="withEffect">
                                  <p:stCondLst>
                                    <p:cond delay="270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par>
                                <p:cTn id="89" presetID="10" presetClass="entr" presetSubtype="0" fill="hold" nodeType="withEffect">
                                  <p:stCondLst>
                                    <p:cond delay="270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10" presetClass="entr" presetSubtype="0" fill="hold" nodeType="withEffect">
                                  <p:stCondLst>
                                    <p:cond delay="270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par>
                                <p:cTn id="95" presetID="10" presetClass="entr" presetSubtype="0" fill="hold" nodeType="withEffect">
                                  <p:stCondLst>
                                    <p:cond delay="270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par>
                                <p:cTn id="98" presetID="10" presetClass="entr" presetSubtype="0" fill="hold" nodeType="withEffect">
                                  <p:stCondLst>
                                    <p:cond delay="270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500"/>
                                        <p:tgtEl>
                                          <p:spTgt spid="37"/>
                                        </p:tgtEl>
                                      </p:cBhvr>
                                    </p:animEffect>
                                  </p:childTnLst>
                                </p:cTn>
                              </p:par>
                              <p:par>
                                <p:cTn id="101" presetID="10" presetClass="entr" presetSubtype="0" fill="hold" nodeType="withEffect">
                                  <p:stCondLst>
                                    <p:cond delay="270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500"/>
                                        <p:tgtEl>
                                          <p:spTgt spid="38"/>
                                        </p:tgtEl>
                                      </p:cBhvr>
                                    </p:animEffect>
                                  </p:childTnLst>
                                </p:cTn>
                              </p:par>
                              <p:par>
                                <p:cTn id="104" presetID="10" presetClass="entr" presetSubtype="0" fill="hold" nodeType="withEffect">
                                  <p:stCondLst>
                                    <p:cond delay="270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par>
                                <p:cTn id="107" presetID="10" presetClass="entr" presetSubtype="0" fill="hold" nodeType="withEffect">
                                  <p:stCondLst>
                                    <p:cond delay="300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500"/>
                                        <p:tgtEl>
                                          <p:spTgt spid="40"/>
                                        </p:tgtEl>
                                      </p:cBhvr>
                                    </p:animEffect>
                                  </p:childTnLst>
                                </p:cTn>
                              </p:par>
                              <p:par>
                                <p:cTn id="110" presetID="10" presetClass="entr" presetSubtype="0" fill="hold" nodeType="withEffect">
                                  <p:stCondLst>
                                    <p:cond delay="300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500"/>
                                        <p:tgtEl>
                                          <p:spTgt spid="41"/>
                                        </p:tgtEl>
                                      </p:cBhvr>
                                    </p:animEffect>
                                  </p:childTnLst>
                                </p:cTn>
                              </p:par>
                              <p:par>
                                <p:cTn id="113" presetID="10" presetClass="entr" presetSubtype="0" fill="hold" nodeType="withEffect">
                                  <p:stCondLst>
                                    <p:cond delay="300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500"/>
                                        <p:tgtEl>
                                          <p:spTgt spid="42"/>
                                        </p:tgtEl>
                                      </p:cBhvr>
                                    </p:animEffect>
                                  </p:childTnLst>
                                </p:cTn>
                              </p:par>
                              <p:par>
                                <p:cTn id="116" presetID="10" presetClass="entr" presetSubtype="0" fill="hold" nodeType="withEffect">
                                  <p:stCondLst>
                                    <p:cond delay="300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500"/>
                                        <p:tgtEl>
                                          <p:spTgt spid="43"/>
                                        </p:tgtEl>
                                      </p:cBhvr>
                                    </p:animEffect>
                                  </p:childTnLst>
                                </p:cTn>
                              </p:par>
                              <p:par>
                                <p:cTn id="119" presetID="10" presetClass="entr" presetSubtype="0" fill="hold" nodeType="withEffect">
                                  <p:stCondLst>
                                    <p:cond delay="300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500"/>
                                        <p:tgtEl>
                                          <p:spTgt spid="44"/>
                                        </p:tgtEl>
                                      </p:cBhvr>
                                    </p:animEffect>
                                  </p:childTnLst>
                                </p:cTn>
                              </p:par>
                              <p:par>
                                <p:cTn id="122" presetID="10" presetClass="entr" presetSubtype="0" fill="hold" nodeType="withEffect">
                                  <p:stCondLst>
                                    <p:cond delay="300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500"/>
                                        <p:tgtEl>
                                          <p:spTgt spid="45"/>
                                        </p:tgtEl>
                                      </p:cBhvr>
                                    </p:animEffect>
                                  </p:childTnLst>
                                </p:cTn>
                              </p:par>
                              <p:par>
                                <p:cTn id="125" presetID="10" presetClass="entr" presetSubtype="0" fill="hold" nodeType="withEffect">
                                  <p:stCondLst>
                                    <p:cond delay="300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600" b="1" dirty="0">
                <a:solidFill>
                  <a:schemeClr val="bg1"/>
                </a:solidFill>
              </a:rPr>
              <a:t>Tech stack: simple to demo, ready to scale</a:t>
            </a:r>
            <a:endParaRPr lang="en-US" sz="2600" dirty="0"/>
          </a:p>
        </p:txBody>
      </p:sp>
      <p:sp>
        <p:nvSpPr>
          <p:cNvPr id="4" name="Clock track"/>
          <p:cNvSpPr/>
          <p:nvPr/>
        </p:nvSpPr>
        <p:spPr>
          <a:xfrm>
            <a:off x="457200" y="201168"/>
            <a:ext cx="6675120" cy="64008"/>
          </a:xfrm>
          <a:prstGeom prst="rect">
            <a:avLst/>
          </a:prstGeom>
          <a:solidFill>
            <a:schemeClr val="bg2"/>
          </a:solidFill>
          <a:ln w="12700">
            <a:solidFill>
              <a:srgbClr val="1F4D37"/>
            </a:solidFill>
            <a:prstDash val="solid"/>
          </a:ln>
        </p:spPr>
      </p:sp>
      <p:sp>
        <p:nvSpPr>
          <p:cNvPr id="5" name="g00 Clock fill wipe"/>
          <p:cNvSpPr/>
          <p:nvPr/>
        </p:nvSpPr>
        <p:spPr>
          <a:xfrm>
            <a:off x="457200" y="201168"/>
            <a:ext cx="4171950" cy="64008"/>
          </a:xfrm>
          <a:prstGeom prst="rect">
            <a:avLst/>
          </a:prstGeom>
          <a:solidFill>
            <a:schemeClr val="accent1"/>
          </a:solidFill>
          <a:ln w="12700">
            <a:solidFill>
              <a:srgbClr val="1F4D37"/>
            </a:solidFill>
            <a:prstDash val="solid"/>
          </a:ln>
        </p:spPr>
      </p:sp>
      <p:sp>
        <p:nvSpPr>
          <p:cNvPr id="6" name="Clock label"/>
          <p:cNvSpPr txBox="1"/>
          <p:nvPr/>
        </p:nvSpPr>
        <p:spPr>
          <a:xfrm>
            <a:off x="7269480" y="128016"/>
            <a:ext cx="1417320" cy="201168"/>
          </a:xfrm>
          <a:prstGeom prst="rect">
            <a:avLst/>
          </a:prstGeom>
          <a:noFill/>
          <a:ln/>
        </p:spPr>
        <p:txBody>
          <a:bodyPr wrap="square" lIns="0" tIns="0" rIns="0" bIns="0" rtlCol="0" anchor="ctr"/>
          <a:lstStyle/>
          <a:p>
            <a:pPr algn="r" indent="0" marL="0">
              <a:buNone/>
            </a:pPr>
            <a:r>
              <a:rPr lang="en-US" sz="900" b="1" spc="100" kern="0" dirty="0">
                <a:solidFill>
                  <a:schemeClr val="accent1"/>
                </a:solidFill>
              </a:rPr>
              <a:t>SAFE WINDOW 2:30:00</a:t>
            </a:r>
            <a:endParaRPr lang="en-US" sz="900" dirty="0"/>
          </a:p>
        </p:txBody>
      </p:sp>
      <p:sp>
        <p:nvSpPr>
          <p:cNvPr id="7" name="g01 Stack card 1"/>
          <p:cNvSpPr/>
          <p:nvPr/>
        </p:nvSpPr>
        <p:spPr>
          <a:xfrm>
            <a:off x="457200" y="1188720"/>
            <a:ext cx="2651760" cy="1600200"/>
          </a:xfrm>
          <a:prstGeom prst="roundRect">
            <a:avLst>
              <a:gd name="adj" fmla="val 4571"/>
            </a:avLst>
          </a:prstGeom>
          <a:solidFill>
            <a:schemeClr val="tx2"/>
          </a:solidFill>
          <a:ln w="9525">
            <a:solidFill>
              <a:srgbClr val="2A5A43"/>
            </a:solidFill>
            <a:prstDash val="solid"/>
          </a:ln>
        </p:spPr>
      </p:sp>
      <p:sp>
        <p:nvSpPr>
          <p:cNvPr id="8" name="g01 Stack tick 1"/>
          <p:cNvSpPr/>
          <p:nvPr/>
        </p:nvSpPr>
        <p:spPr>
          <a:xfrm>
            <a:off x="640080" y="1371600"/>
            <a:ext cx="411480" cy="54864"/>
          </a:xfrm>
          <a:prstGeom prst="rect">
            <a:avLst/>
          </a:prstGeom>
          <a:solidFill>
            <a:schemeClr val="accent2"/>
          </a:solidFill>
          <a:ln w="12700">
            <a:solidFill>
              <a:srgbClr val="2D9A5B"/>
            </a:solidFill>
            <a:prstDash val="solid"/>
          </a:ln>
        </p:spPr>
      </p:sp>
      <p:sp>
        <p:nvSpPr>
          <p:cNvPr id="9" name="g01 Stack title 1"/>
          <p:cNvSpPr txBox="1"/>
          <p:nvPr/>
        </p:nvSpPr>
        <p:spPr>
          <a:xfrm>
            <a:off x="640080" y="1481328"/>
            <a:ext cx="2286000" cy="320040"/>
          </a:xfrm>
          <a:prstGeom prst="rect">
            <a:avLst/>
          </a:prstGeom>
          <a:noFill/>
          <a:ln/>
        </p:spPr>
        <p:txBody>
          <a:bodyPr wrap="square" lIns="0" tIns="0" rIns="0" bIns="0" rtlCol="0" anchor="ctr"/>
          <a:lstStyle/>
          <a:p>
            <a:pPr indent="0" marL="0">
              <a:buNone/>
            </a:pPr>
            <a:r>
              <a:rPr lang="en-US" sz="1400" b="1" dirty="0">
                <a:solidFill>
                  <a:schemeClr val="bg1"/>
                </a:solidFill>
              </a:rPr>
              <a:t>AI orchestration</a:t>
            </a:r>
            <a:endParaRPr lang="en-US" sz="1400" dirty="0"/>
          </a:p>
        </p:txBody>
      </p:sp>
      <p:sp>
        <p:nvSpPr>
          <p:cNvPr id="10" name="g01 Stack items 1"/>
          <p:cNvSpPr txBox="1"/>
          <p:nvPr/>
        </p:nvSpPr>
        <p:spPr>
          <a:xfrm>
            <a:off x="640080" y="1874520"/>
            <a:ext cx="2286000" cy="822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accent3"/>
                </a:solidFill>
              </a:rPr>
              <a:t>Antigravity workflow</a:t>
            </a:r>
            <a:endParaRPr lang="en-US" sz="1150" dirty="0"/>
          </a:p>
          <a:p>
            <a:pPr marL="342900" indent="-342900">
              <a:spcAft>
                <a:spcPts val="400"/>
              </a:spcAft>
              <a:buSzPct val="100000"/>
              <a:buChar char="•"/>
            </a:pPr>
            <a:r>
              <a:rPr lang="en-US" sz="1150" dirty="0">
                <a:solidFill>
                  <a:schemeClr val="accent3"/>
                </a:solidFill>
              </a:rPr>
              <a:t>Skills: SKILL.md + scripts</a:t>
            </a:r>
            <a:endParaRPr lang="en-US" sz="1150" dirty="0"/>
          </a:p>
          <a:p>
            <a:pPr marL="342900" indent="-342900">
              <a:spcAft>
                <a:spcPts val="400"/>
              </a:spcAft>
              <a:buSzPct val="100000"/>
              <a:buChar char="•"/>
            </a:pPr>
            <a:r>
              <a:rPr lang="en-US" sz="1150" dirty="0">
                <a:solidFill>
                  <a:schemeClr val="accent3"/>
                </a:solidFill>
              </a:rPr>
              <a:t>LLM parses messy listings</a:t>
            </a:r>
            <a:endParaRPr lang="en-US" sz="1150" dirty="0"/>
          </a:p>
        </p:txBody>
      </p:sp>
      <p:sp>
        <p:nvSpPr>
          <p:cNvPr id="11" name="g02 Stack card 2"/>
          <p:cNvSpPr/>
          <p:nvPr/>
        </p:nvSpPr>
        <p:spPr>
          <a:xfrm>
            <a:off x="3246120" y="1188720"/>
            <a:ext cx="2651760" cy="1600200"/>
          </a:xfrm>
          <a:prstGeom prst="roundRect">
            <a:avLst>
              <a:gd name="adj" fmla="val 4571"/>
            </a:avLst>
          </a:prstGeom>
          <a:solidFill>
            <a:schemeClr val="tx2"/>
          </a:solidFill>
          <a:ln w="9525">
            <a:solidFill>
              <a:srgbClr val="2A5A43"/>
            </a:solidFill>
            <a:prstDash val="solid"/>
          </a:ln>
        </p:spPr>
      </p:sp>
      <p:sp>
        <p:nvSpPr>
          <p:cNvPr id="12" name="g02 Stack tick 2"/>
          <p:cNvSpPr/>
          <p:nvPr/>
        </p:nvSpPr>
        <p:spPr>
          <a:xfrm>
            <a:off x="3429000" y="1371600"/>
            <a:ext cx="411480" cy="54864"/>
          </a:xfrm>
          <a:prstGeom prst="rect">
            <a:avLst/>
          </a:prstGeom>
          <a:solidFill>
            <a:schemeClr val="accent2"/>
          </a:solidFill>
          <a:ln w="12700">
            <a:solidFill>
              <a:srgbClr val="2D9A5B"/>
            </a:solidFill>
            <a:prstDash val="solid"/>
          </a:ln>
        </p:spPr>
      </p:sp>
      <p:sp>
        <p:nvSpPr>
          <p:cNvPr id="13" name="g02 Stack title 2"/>
          <p:cNvSpPr txBox="1"/>
          <p:nvPr/>
        </p:nvSpPr>
        <p:spPr>
          <a:xfrm>
            <a:off x="3429000" y="1481328"/>
            <a:ext cx="2286000" cy="320040"/>
          </a:xfrm>
          <a:prstGeom prst="rect">
            <a:avLst/>
          </a:prstGeom>
          <a:noFill/>
          <a:ln/>
        </p:spPr>
        <p:txBody>
          <a:bodyPr wrap="square" lIns="0" tIns="0" rIns="0" bIns="0" rtlCol="0" anchor="ctr"/>
          <a:lstStyle/>
          <a:p>
            <a:pPr indent="0" marL="0">
              <a:buNone/>
            </a:pPr>
            <a:r>
              <a:rPr lang="en-US" sz="1400" b="1" dirty="0">
                <a:solidFill>
                  <a:schemeClr val="bg1"/>
                </a:solidFill>
              </a:rPr>
              <a:t>Core logic</a:t>
            </a:r>
            <a:endParaRPr lang="en-US" sz="1400" dirty="0"/>
          </a:p>
        </p:txBody>
      </p:sp>
      <p:sp>
        <p:nvSpPr>
          <p:cNvPr id="14" name="g02 Stack items 2"/>
          <p:cNvSpPr txBox="1"/>
          <p:nvPr/>
        </p:nvSpPr>
        <p:spPr>
          <a:xfrm>
            <a:off x="3429000" y="1874520"/>
            <a:ext cx="2286000" cy="822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accent3"/>
                </a:solidFill>
              </a:rPr>
              <a:t>Python 3</a:t>
            </a:r>
            <a:endParaRPr lang="en-US" sz="1150" dirty="0"/>
          </a:p>
          <a:p>
            <a:pPr marL="342900" indent="-342900">
              <a:spcAft>
                <a:spcPts val="400"/>
              </a:spcAft>
              <a:buSzPct val="100000"/>
              <a:buChar char="•"/>
            </a:pPr>
            <a:r>
              <a:rPr lang="en-US" sz="1150" dirty="0">
                <a:solidFill>
                  <a:schemeClr val="accent3"/>
                </a:solidFill>
              </a:rPr>
              <a:t>Haversine distance scoring</a:t>
            </a:r>
            <a:endParaRPr lang="en-US" sz="1150" dirty="0"/>
          </a:p>
          <a:p>
            <a:pPr marL="342900" indent="-342900">
              <a:spcAft>
                <a:spcPts val="400"/>
              </a:spcAft>
              <a:buSzPct val="100000"/>
              <a:buChar char="•"/>
            </a:pPr>
            <a:r>
              <a:rPr lang="en-US" sz="1150" dirty="0">
                <a:solidFill>
                  <a:schemeClr val="accent3"/>
                </a:solidFill>
              </a:rPr>
              <a:t>Nearest-neighbour routing</a:t>
            </a:r>
            <a:endParaRPr lang="en-US" sz="1150" dirty="0"/>
          </a:p>
        </p:txBody>
      </p:sp>
      <p:sp>
        <p:nvSpPr>
          <p:cNvPr id="15" name="g03 Stack card 3"/>
          <p:cNvSpPr/>
          <p:nvPr/>
        </p:nvSpPr>
        <p:spPr>
          <a:xfrm>
            <a:off x="6035040" y="1188720"/>
            <a:ext cx="2651760" cy="1600200"/>
          </a:xfrm>
          <a:prstGeom prst="roundRect">
            <a:avLst>
              <a:gd name="adj" fmla="val 4571"/>
            </a:avLst>
          </a:prstGeom>
          <a:solidFill>
            <a:schemeClr val="tx2"/>
          </a:solidFill>
          <a:ln w="9525">
            <a:solidFill>
              <a:srgbClr val="2A5A43"/>
            </a:solidFill>
            <a:prstDash val="solid"/>
          </a:ln>
        </p:spPr>
      </p:sp>
      <p:sp>
        <p:nvSpPr>
          <p:cNvPr id="16" name="g03 Stack tick 3"/>
          <p:cNvSpPr/>
          <p:nvPr/>
        </p:nvSpPr>
        <p:spPr>
          <a:xfrm>
            <a:off x="6217920" y="1371600"/>
            <a:ext cx="411480" cy="54864"/>
          </a:xfrm>
          <a:prstGeom prst="rect">
            <a:avLst/>
          </a:prstGeom>
          <a:solidFill>
            <a:schemeClr val="accent2"/>
          </a:solidFill>
          <a:ln w="12700">
            <a:solidFill>
              <a:srgbClr val="2D9A5B"/>
            </a:solidFill>
            <a:prstDash val="solid"/>
          </a:ln>
        </p:spPr>
      </p:sp>
      <p:sp>
        <p:nvSpPr>
          <p:cNvPr id="17" name="g03 Stack title 3"/>
          <p:cNvSpPr txBox="1"/>
          <p:nvPr/>
        </p:nvSpPr>
        <p:spPr>
          <a:xfrm>
            <a:off x="6217920" y="1481328"/>
            <a:ext cx="2286000" cy="320040"/>
          </a:xfrm>
          <a:prstGeom prst="rect">
            <a:avLst/>
          </a:prstGeom>
          <a:noFill/>
          <a:ln/>
        </p:spPr>
        <p:txBody>
          <a:bodyPr wrap="square" lIns="0" tIns="0" rIns="0" bIns="0" rtlCol="0" anchor="ctr"/>
          <a:lstStyle/>
          <a:p>
            <a:pPr indent="0" marL="0">
              <a:buNone/>
            </a:pPr>
            <a:r>
              <a:rPr lang="en-US" sz="1400" b="1" dirty="0">
                <a:solidFill>
                  <a:schemeClr val="bg1"/>
                </a:solidFill>
              </a:rPr>
              <a:t>Data</a:t>
            </a:r>
            <a:endParaRPr lang="en-US" sz="1400" dirty="0"/>
          </a:p>
        </p:txBody>
      </p:sp>
      <p:sp>
        <p:nvSpPr>
          <p:cNvPr id="18" name="g03 Stack items 3"/>
          <p:cNvSpPr txBox="1"/>
          <p:nvPr/>
        </p:nvSpPr>
        <p:spPr>
          <a:xfrm>
            <a:off x="6217920" y="1874520"/>
            <a:ext cx="2286000" cy="822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accent3"/>
                </a:solidFill>
              </a:rPr>
              <a:t>CSV mock data (Bhubaneswar)</a:t>
            </a:r>
            <a:endParaRPr lang="en-US" sz="1150" dirty="0"/>
          </a:p>
          <a:p>
            <a:pPr marL="342900" indent="-342900">
              <a:spcAft>
                <a:spcPts val="400"/>
              </a:spcAft>
              <a:buSzPct val="100000"/>
              <a:buChar char="•"/>
            </a:pPr>
            <a:r>
              <a:rPr lang="en-US" sz="1150" dirty="0">
                <a:solidFill>
                  <a:schemeClr val="accent3"/>
                </a:solidFill>
              </a:rPr>
              <a:t>JSON passed between skills</a:t>
            </a:r>
            <a:endParaRPr lang="en-US" sz="1150" dirty="0"/>
          </a:p>
          <a:p>
            <a:pPr marL="342900" indent="-342900">
              <a:spcAft>
                <a:spcPts val="400"/>
              </a:spcAft>
              <a:buSzPct val="100000"/>
              <a:buChar char="•"/>
            </a:pPr>
            <a:r>
              <a:rPr lang="en-US" sz="1150" dirty="0">
                <a:solidFill>
                  <a:schemeClr val="accent3"/>
                </a:solidFill>
              </a:rPr>
              <a:t>Running ledger.csv</a:t>
            </a:r>
            <a:endParaRPr lang="en-US" sz="1150" dirty="0"/>
          </a:p>
        </p:txBody>
      </p:sp>
      <p:sp>
        <p:nvSpPr>
          <p:cNvPr id="19" name="g04 Stack card 4"/>
          <p:cNvSpPr/>
          <p:nvPr/>
        </p:nvSpPr>
        <p:spPr>
          <a:xfrm>
            <a:off x="457200" y="2926080"/>
            <a:ext cx="2651760" cy="1600200"/>
          </a:xfrm>
          <a:prstGeom prst="roundRect">
            <a:avLst>
              <a:gd name="adj" fmla="val 4571"/>
            </a:avLst>
          </a:prstGeom>
          <a:solidFill>
            <a:schemeClr val="tx2"/>
          </a:solidFill>
          <a:ln w="9525">
            <a:solidFill>
              <a:srgbClr val="2A5A43"/>
            </a:solidFill>
            <a:prstDash val="solid"/>
          </a:ln>
        </p:spPr>
      </p:sp>
      <p:sp>
        <p:nvSpPr>
          <p:cNvPr id="20" name="g04 Stack tick 4"/>
          <p:cNvSpPr/>
          <p:nvPr/>
        </p:nvSpPr>
        <p:spPr>
          <a:xfrm>
            <a:off x="640080" y="3108960"/>
            <a:ext cx="411480" cy="54864"/>
          </a:xfrm>
          <a:prstGeom prst="rect">
            <a:avLst/>
          </a:prstGeom>
          <a:solidFill>
            <a:schemeClr val="accent2"/>
          </a:solidFill>
          <a:ln w="12700">
            <a:solidFill>
              <a:srgbClr val="2D9A5B"/>
            </a:solidFill>
            <a:prstDash val="solid"/>
          </a:ln>
        </p:spPr>
      </p:sp>
      <p:sp>
        <p:nvSpPr>
          <p:cNvPr id="21" name="g04 Stack title 4"/>
          <p:cNvSpPr txBox="1"/>
          <p:nvPr/>
        </p:nvSpPr>
        <p:spPr>
          <a:xfrm>
            <a:off x="640080" y="3218688"/>
            <a:ext cx="2286000" cy="320040"/>
          </a:xfrm>
          <a:prstGeom prst="rect">
            <a:avLst/>
          </a:prstGeom>
          <a:noFill/>
          <a:ln/>
        </p:spPr>
        <p:txBody>
          <a:bodyPr wrap="square" lIns="0" tIns="0" rIns="0" bIns="0" rtlCol="0" anchor="ctr"/>
          <a:lstStyle/>
          <a:p>
            <a:pPr indent="0" marL="0">
              <a:buNone/>
            </a:pPr>
            <a:r>
              <a:rPr lang="en-US" sz="1400" b="1" dirty="0">
                <a:solidFill>
                  <a:schemeClr val="bg1"/>
                </a:solidFill>
              </a:rPr>
              <a:t>Frontend</a:t>
            </a:r>
            <a:endParaRPr lang="en-US" sz="1400" dirty="0"/>
          </a:p>
        </p:txBody>
      </p:sp>
      <p:sp>
        <p:nvSpPr>
          <p:cNvPr id="22" name="g04 Stack items 4"/>
          <p:cNvSpPr txBox="1"/>
          <p:nvPr/>
        </p:nvSpPr>
        <p:spPr>
          <a:xfrm>
            <a:off x="640080" y="3611880"/>
            <a:ext cx="2286000" cy="822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accent3"/>
                </a:solidFill>
              </a:rPr>
              <a:t>HTML + JavaScript</a:t>
            </a:r>
            <a:endParaRPr lang="en-US" sz="1150" dirty="0"/>
          </a:p>
          <a:p>
            <a:pPr marL="342900" indent="-342900">
              <a:spcAft>
                <a:spcPts val="400"/>
              </a:spcAft>
              <a:buSzPct val="100000"/>
              <a:buChar char="•"/>
            </a:pPr>
            <a:r>
              <a:rPr lang="en-US" sz="1150" dirty="0">
                <a:solidFill>
                  <a:schemeClr val="accent3"/>
                </a:solidFill>
              </a:rPr>
              <a:t>Leaflet + OpenStreetMap</a:t>
            </a:r>
            <a:endParaRPr lang="en-US" sz="1150" dirty="0"/>
          </a:p>
          <a:p>
            <a:pPr marL="342900" indent="-342900">
              <a:spcAft>
                <a:spcPts val="400"/>
              </a:spcAft>
              <a:buSzPct val="100000"/>
              <a:buChar char="•"/>
            </a:pPr>
            <a:r>
              <a:rPr lang="en-US" sz="1150" dirty="0">
                <a:solidFill>
                  <a:schemeClr val="accent3"/>
                </a:solidFill>
              </a:rPr>
              <a:t>Live feed, impact counters</a:t>
            </a:r>
            <a:endParaRPr lang="en-US" sz="1150" dirty="0"/>
          </a:p>
        </p:txBody>
      </p:sp>
      <p:sp>
        <p:nvSpPr>
          <p:cNvPr id="23" name="g05 Stack card 5"/>
          <p:cNvSpPr/>
          <p:nvPr/>
        </p:nvSpPr>
        <p:spPr>
          <a:xfrm>
            <a:off x="3246120" y="2926080"/>
            <a:ext cx="2651760" cy="1600200"/>
          </a:xfrm>
          <a:prstGeom prst="roundRect">
            <a:avLst>
              <a:gd name="adj" fmla="val 4571"/>
            </a:avLst>
          </a:prstGeom>
          <a:solidFill>
            <a:schemeClr val="tx2"/>
          </a:solidFill>
          <a:ln w="9525">
            <a:solidFill>
              <a:srgbClr val="2A5A43"/>
            </a:solidFill>
            <a:prstDash val="solid"/>
          </a:ln>
        </p:spPr>
      </p:sp>
      <p:sp>
        <p:nvSpPr>
          <p:cNvPr id="24" name="g05 Stack tick 5"/>
          <p:cNvSpPr/>
          <p:nvPr/>
        </p:nvSpPr>
        <p:spPr>
          <a:xfrm>
            <a:off x="3429000" y="3108960"/>
            <a:ext cx="411480" cy="54864"/>
          </a:xfrm>
          <a:prstGeom prst="rect">
            <a:avLst/>
          </a:prstGeom>
          <a:solidFill>
            <a:schemeClr val="accent2"/>
          </a:solidFill>
          <a:ln w="12700">
            <a:solidFill>
              <a:srgbClr val="2D9A5B"/>
            </a:solidFill>
            <a:prstDash val="solid"/>
          </a:ln>
        </p:spPr>
      </p:sp>
      <p:sp>
        <p:nvSpPr>
          <p:cNvPr id="25" name="g05 Stack title 5"/>
          <p:cNvSpPr txBox="1"/>
          <p:nvPr/>
        </p:nvSpPr>
        <p:spPr>
          <a:xfrm>
            <a:off x="3429000" y="3218688"/>
            <a:ext cx="2286000" cy="320040"/>
          </a:xfrm>
          <a:prstGeom prst="rect">
            <a:avLst/>
          </a:prstGeom>
          <a:noFill/>
          <a:ln/>
        </p:spPr>
        <p:txBody>
          <a:bodyPr wrap="square" lIns="0" tIns="0" rIns="0" bIns="0" rtlCol="0" anchor="ctr"/>
          <a:lstStyle/>
          <a:p>
            <a:pPr indent="0" marL="0">
              <a:buNone/>
            </a:pPr>
            <a:r>
              <a:rPr lang="en-US" sz="1400" b="1" dirty="0">
                <a:solidFill>
                  <a:schemeClr val="bg1"/>
                </a:solidFill>
              </a:rPr>
              <a:t>Communication</a:t>
            </a:r>
            <a:endParaRPr lang="en-US" sz="1400" dirty="0"/>
          </a:p>
        </p:txBody>
      </p:sp>
      <p:sp>
        <p:nvSpPr>
          <p:cNvPr id="26" name="g05 Stack items 5"/>
          <p:cNvSpPr txBox="1"/>
          <p:nvPr/>
        </p:nvSpPr>
        <p:spPr>
          <a:xfrm>
            <a:off x="3429000" y="3611880"/>
            <a:ext cx="2286000" cy="822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accent3"/>
                </a:solidFill>
              </a:rPr>
              <a:t>WhatsApp / SMS templates</a:t>
            </a:r>
            <a:endParaRPr lang="en-US" sz="1150" dirty="0"/>
          </a:p>
          <a:p>
            <a:pPr marL="342900" indent="-342900">
              <a:spcAft>
                <a:spcPts val="400"/>
              </a:spcAft>
              <a:buSzPct val="100000"/>
              <a:buChar char="•"/>
            </a:pPr>
            <a:r>
              <a:rPr lang="en-US" sz="1150" dirty="0">
                <a:solidFill>
                  <a:schemeClr val="accent3"/>
                </a:solidFill>
              </a:rPr>
              <a:t>English, Hindi, Odia</a:t>
            </a:r>
            <a:endParaRPr lang="en-US" sz="1150" dirty="0"/>
          </a:p>
          <a:p>
            <a:pPr marL="342900" indent="-342900">
              <a:spcAft>
                <a:spcPts val="400"/>
              </a:spcAft>
              <a:buSzPct val="100000"/>
              <a:buChar char="•"/>
            </a:pPr>
            <a:r>
              <a:rPr lang="en-US" sz="1150" dirty="0">
                <a:solidFill>
                  <a:schemeClr val="accent3"/>
                </a:solidFill>
              </a:rPr>
              <a:t>Copy-ready, no API needed</a:t>
            </a:r>
            <a:endParaRPr lang="en-US" sz="1150" dirty="0"/>
          </a:p>
        </p:txBody>
      </p:sp>
      <p:sp>
        <p:nvSpPr>
          <p:cNvPr id="27" name="g06 Stack card 6"/>
          <p:cNvSpPr/>
          <p:nvPr/>
        </p:nvSpPr>
        <p:spPr>
          <a:xfrm>
            <a:off x="6035040" y="2926080"/>
            <a:ext cx="2651760" cy="1600200"/>
          </a:xfrm>
          <a:prstGeom prst="roundRect">
            <a:avLst>
              <a:gd name="adj" fmla="val 4571"/>
            </a:avLst>
          </a:prstGeom>
          <a:solidFill>
            <a:schemeClr val="tx2"/>
          </a:solidFill>
          <a:ln w="9525">
            <a:solidFill>
              <a:srgbClr val="F4A261"/>
            </a:solidFill>
            <a:prstDash val="solid"/>
          </a:ln>
        </p:spPr>
      </p:sp>
      <p:sp>
        <p:nvSpPr>
          <p:cNvPr id="28" name="g06 Stack tick 6"/>
          <p:cNvSpPr/>
          <p:nvPr/>
        </p:nvSpPr>
        <p:spPr>
          <a:xfrm>
            <a:off x="6217920" y="3108960"/>
            <a:ext cx="411480" cy="54864"/>
          </a:xfrm>
          <a:prstGeom prst="rect">
            <a:avLst/>
          </a:prstGeom>
          <a:solidFill>
            <a:schemeClr val="accent1"/>
          </a:solidFill>
          <a:ln w="12700">
            <a:solidFill>
              <a:srgbClr val="2D9A5B"/>
            </a:solidFill>
            <a:prstDash val="solid"/>
          </a:ln>
        </p:spPr>
      </p:sp>
      <p:sp>
        <p:nvSpPr>
          <p:cNvPr id="29" name="g06 Stack title 6"/>
          <p:cNvSpPr txBox="1"/>
          <p:nvPr/>
        </p:nvSpPr>
        <p:spPr>
          <a:xfrm>
            <a:off x="6217920" y="3218688"/>
            <a:ext cx="2286000" cy="320040"/>
          </a:xfrm>
          <a:prstGeom prst="rect">
            <a:avLst/>
          </a:prstGeom>
          <a:noFill/>
          <a:ln/>
        </p:spPr>
        <p:txBody>
          <a:bodyPr wrap="square" lIns="0" tIns="0" rIns="0" bIns="0" rtlCol="0" anchor="ctr"/>
          <a:lstStyle/>
          <a:p>
            <a:pPr indent="0" marL="0">
              <a:buNone/>
            </a:pPr>
            <a:r>
              <a:rPr lang="en-US" sz="1400" b="1" dirty="0">
                <a:solidFill>
                  <a:schemeClr val="accent1"/>
                </a:solidFill>
              </a:rPr>
              <a:t>Production path</a:t>
            </a:r>
            <a:endParaRPr lang="en-US" sz="1400" dirty="0"/>
          </a:p>
        </p:txBody>
      </p:sp>
      <p:sp>
        <p:nvSpPr>
          <p:cNvPr id="30" name="g06 Stack items 6"/>
          <p:cNvSpPr txBox="1"/>
          <p:nvPr/>
        </p:nvSpPr>
        <p:spPr>
          <a:xfrm>
            <a:off x="6217920" y="3611880"/>
            <a:ext cx="2286000" cy="822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accent3"/>
                </a:solidFill>
              </a:rPr>
              <a:t>WhatsApp Business API</a:t>
            </a:r>
            <a:endParaRPr lang="en-US" sz="1150" dirty="0"/>
          </a:p>
          <a:p>
            <a:pPr marL="342900" indent="-342900">
              <a:spcAft>
                <a:spcPts val="400"/>
              </a:spcAft>
              <a:buSzPct val="100000"/>
              <a:buChar char="•"/>
            </a:pPr>
            <a:r>
              <a:rPr lang="en-US" sz="1150" dirty="0">
                <a:solidFill>
                  <a:schemeClr val="accent3"/>
                </a:solidFill>
              </a:rPr>
              <a:t>PostgreSQL + PostGIS</a:t>
            </a:r>
            <a:endParaRPr lang="en-US" sz="1150" dirty="0"/>
          </a:p>
          <a:p>
            <a:pPr marL="342900" indent="-342900">
              <a:spcAft>
                <a:spcPts val="400"/>
              </a:spcAft>
              <a:buSzPct val="100000"/>
              <a:buChar char="•"/>
            </a:pPr>
            <a:r>
              <a:rPr lang="en-US" sz="1150" dirty="0">
                <a:solidFill>
                  <a:schemeClr val="accent3"/>
                </a:solidFill>
              </a:rPr>
              <a:t>Road routing (OSRM)</a:t>
            </a:r>
            <a:endParaRPr lang="en-US" sz="11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A79A"/>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00"/>
                                        <p:tgtEl>
                                          <p:spTgt spid="5"/>
                                        </p:tgtEl>
                                      </p:cBhvr>
                                    </p:animEffect>
                                  </p:childTnLst>
                                </p:cTn>
                              </p:par>
                              <p:par>
                                <p:cTn id="8" presetID="10" presetClass="entr" presetSubtype="0" fill="hold" nodeType="withEffect">
                                  <p:stCondLst>
                                    <p:cond delay="3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3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3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3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6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6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6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6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9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9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90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9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nodeType="withEffect">
                                  <p:stCondLst>
                                    <p:cond delay="12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nodeType="withEffect">
                                  <p:stCondLst>
                                    <p:cond delay="12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nodeType="withEffect">
                                  <p:stCondLst>
                                    <p:cond delay="120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nodeType="withEffect">
                                  <p:stCondLst>
                                    <p:cond delay="120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150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nodeType="withEffect">
                                  <p:stCondLst>
                                    <p:cond delay="150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nodeType="withEffect">
                                  <p:stCondLst>
                                    <p:cond delay="150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nodeType="withEffect">
                                  <p:stCondLst>
                                    <p:cond delay="150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nodeType="withEffect">
                                  <p:stCondLst>
                                    <p:cond delay="180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nodeType="withEffect">
                                  <p:stCondLst>
                                    <p:cond delay="180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nodeType="withEffect">
                                  <p:stCondLst>
                                    <p:cond delay="180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nodeType="withEffect">
                                  <p:stCondLst>
                                    <p:cond delay="180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600" b="1" dirty="0">
                <a:solidFill>
                  <a:schemeClr val="bg1"/>
                </a:solidFill>
              </a:rPr>
              <a:t>Why us: unique edge and real-world scale</a:t>
            </a:r>
            <a:endParaRPr lang="en-US" sz="2600" dirty="0"/>
          </a:p>
        </p:txBody>
      </p:sp>
      <p:sp>
        <p:nvSpPr>
          <p:cNvPr id="4" name="Clock track"/>
          <p:cNvSpPr/>
          <p:nvPr/>
        </p:nvSpPr>
        <p:spPr>
          <a:xfrm>
            <a:off x="457200" y="201168"/>
            <a:ext cx="6675120" cy="64008"/>
          </a:xfrm>
          <a:prstGeom prst="rect">
            <a:avLst/>
          </a:prstGeom>
          <a:solidFill>
            <a:schemeClr val="bg2"/>
          </a:solidFill>
          <a:ln w="12700">
            <a:solidFill>
              <a:srgbClr val="1F4D37"/>
            </a:solidFill>
            <a:prstDash val="solid"/>
          </a:ln>
        </p:spPr>
      </p:sp>
      <p:sp>
        <p:nvSpPr>
          <p:cNvPr id="5" name="g00 Clock fill wipe"/>
          <p:cNvSpPr/>
          <p:nvPr/>
        </p:nvSpPr>
        <p:spPr>
          <a:xfrm>
            <a:off x="457200" y="201168"/>
            <a:ext cx="2920365" cy="64008"/>
          </a:xfrm>
          <a:prstGeom prst="rect">
            <a:avLst/>
          </a:prstGeom>
          <a:solidFill>
            <a:schemeClr val="accent4"/>
          </a:solidFill>
          <a:ln w="12700">
            <a:solidFill>
              <a:srgbClr val="1F4D37"/>
            </a:solidFill>
            <a:prstDash val="solid"/>
          </a:ln>
        </p:spPr>
      </p:sp>
      <p:sp>
        <p:nvSpPr>
          <p:cNvPr id="6" name="Clock label"/>
          <p:cNvSpPr txBox="1"/>
          <p:nvPr/>
        </p:nvSpPr>
        <p:spPr>
          <a:xfrm>
            <a:off x="7269480" y="128016"/>
            <a:ext cx="1417320" cy="201168"/>
          </a:xfrm>
          <a:prstGeom prst="rect">
            <a:avLst/>
          </a:prstGeom>
          <a:noFill/>
          <a:ln/>
        </p:spPr>
        <p:txBody>
          <a:bodyPr wrap="square" lIns="0" tIns="0" rIns="0" bIns="0" rtlCol="0" anchor="ctr"/>
          <a:lstStyle/>
          <a:p>
            <a:pPr algn="r" indent="0" marL="0">
              <a:buNone/>
            </a:pPr>
            <a:r>
              <a:rPr lang="en-US" sz="900" b="1" spc="100" kern="0" dirty="0">
                <a:solidFill>
                  <a:schemeClr val="accent1"/>
                </a:solidFill>
              </a:rPr>
              <a:t>SAFE WINDOW 1:45:00</a:t>
            </a:r>
            <a:endParaRPr lang="en-US" sz="900" dirty="0"/>
          </a:p>
        </p:txBody>
      </p:sp>
      <p:sp>
        <p:nvSpPr>
          <p:cNvPr id="7" name="g01 Edge heading"/>
          <p:cNvSpPr txBox="1"/>
          <p:nvPr/>
        </p:nvSpPr>
        <p:spPr>
          <a:xfrm>
            <a:off x="457200" y="1188720"/>
            <a:ext cx="402336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OUR EDGE</a:t>
            </a:r>
            <a:endParaRPr lang="en-US" sz="1200" dirty="0"/>
          </a:p>
        </p:txBody>
      </p:sp>
      <p:sp>
        <p:nvSpPr>
          <p:cNvPr id="8" name="g02 Edge marker 1"/>
          <p:cNvSpPr/>
          <p:nvPr/>
        </p:nvSpPr>
        <p:spPr>
          <a:xfrm>
            <a:off x="457200" y="1645920"/>
            <a:ext cx="64008" cy="548640"/>
          </a:xfrm>
          <a:prstGeom prst="rect">
            <a:avLst/>
          </a:prstGeom>
          <a:solidFill>
            <a:schemeClr val="accent1"/>
          </a:solidFill>
          <a:ln w="12700">
            <a:solidFill>
              <a:srgbClr val="F4A261"/>
            </a:solidFill>
            <a:prstDash val="solid"/>
          </a:ln>
        </p:spPr>
      </p:sp>
      <p:sp>
        <p:nvSpPr>
          <p:cNvPr id="9" name="g02 Edge item 1"/>
          <p:cNvSpPr txBox="1"/>
          <p:nvPr/>
        </p:nvSpPr>
        <p:spPr>
          <a:xfrm>
            <a:off x="685800" y="1600200"/>
            <a:ext cx="3794760" cy="640080"/>
          </a:xfrm>
          <a:prstGeom prst="rect">
            <a:avLst/>
          </a:prstGeom>
          <a:noFill/>
          <a:ln/>
        </p:spPr>
        <p:txBody>
          <a:bodyPr wrap="square" lIns="0" tIns="0" rIns="0" bIns="0" rtlCol="0" anchor="t"/>
          <a:lstStyle/>
          <a:p>
            <a:pPr indent="0" marL="0">
              <a:buNone/>
            </a:pPr>
            <a:r>
              <a:rPr lang="en-US" sz="1400" b="1" dirty="0">
                <a:solidFill>
                  <a:schemeClr val="bg1"/>
                </a:solidFill>
              </a:rPr>
              <a:t>Safety-first gate</a:t>
            </a:r>
            <a:endParaRPr lang="en-US" sz="1400" dirty="0"/>
          </a:p>
          <a:p>
            <a:pPr indent="0" marL="0">
              <a:buNone/>
            </a:pPr>
            <a:r>
              <a:rPr lang="en-US" sz="1200" dirty="0">
                <a:solidFill>
                  <a:schemeClr val="accent3"/>
                </a:solidFill>
              </a:rPr>
              <a:t>Rejects food outside the safe time window.</a:t>
            </a:r>
            <a:endParaRPr lang="en-US" sz="1400" dirty="0"/>
          </a:p>
        </p:txBody>
      </p:sp>
      <p:sp>
        <p:nvSpPr>
          <p:cNvPr id="10" name="g03 Edge marker 2"/>
          <p:cNvSpPr/>
          <p:nvPr/>
        </p:nvSpPr>
        <p:spPr>
          <a:xfrm>
            <a:off x="457200" y="2377440"/>
            <a:ext cx="64008" cy="548640"/>
          </a:xfrm>
          <a:prstGeom prst="rect">
            <a:avLst/>
          </a:prstGeom>
          <a:solidFill>
            <a:schemeClr val="accent1"/>
          </a:solidFill>
          <a:ln w="12700">
            <a:solidFill>
              <a:srgbClr val="F4A261"/>
            </a:solidFill>
            <a:prstDash val="solid"/>
          </a:ln>
        </p:spPr>
      </p:sp>
      <p:sp>
        <p:nvSpPr>
          <p:cNvPr id="11" name="g03 Edge item 2"/>
          <p:cNvSpPr txBox="1"/>
          <p:nvPr/>
        </p:nvSpPr>
        <p:spPr>
          <a:xfrm>
            <a:off x="685800" y="2331720"/>
            <a:ext cx="3794760" cy="640080"/>
          </a:xfrm>
          <a:prstGeom prst="rect">
            <a:avLst/>
          </a:prstGeom>
          <a:noFill/>
          <a:ln/>
        </p:spPr>
        <p:txBody>
          <a:bodyPr wrap="square" lIns="0" tIns="0" rIns="0" bIns="0" rtlCol="0" anchor="t"/>
          <a:lstStyle/>
          <a:p>
            <a:pPr indent="0" marL="0">
              <a:buNone/>
            </a:pPr>
            <a:r>
              <a:rPr lang="en-US" sz="1400" b="1" dirty="0">
                <a:solidFill>
                  <a:schemeClr val="bg1"/>
                </a:solidFill>
              </a:rPr>
              <a:t>Zero-friction donors</a:t>
            </a:r>
            <a:endParaRPr lang="en-US" sz="1400" dirty="0"/>
          </a:p>
          <a:p>
            <a:pPr indent="0" marL="0">
              <a:buNone/>
            </a:pPr>
            <a:r>
              <a:rPr lang="en-US" sz="1200" dirty="0">
                <a:solidFill>
                  <a:schemeClr val="accent3"/>
                </a:solidFill>
              </a:rPr>
              <a:t>One chat message, no app to learn.</a:t>
            </a:r>
            <a:endParaRPr lang="en-US" sz="1400" dirty="0"/>
          </a:p>
        </p:txBody>
      </p:sp>
      <p:sp>
        <p:nvSpPr>
          <p:cNvPr id="12" name="g04 Edge marker 3"/>
          <p:cNvSpPr/>
          <p:nvPr/>
        </p:nvSpPr>
        <p:spPr>
          <a:xfrm>
            <a:off x="457200" y="3108960"/>
            <a:ext cx="64008" cy="548640"/>
          </a:xfrm>
          <a:prstGeom prst="rect">
            <a:avLst/>
          </a:prstGeom>
          <a:solidFill>
            <a:schemeClr val="accent1"/>
          </a:solidFill>
          <a:ln w="12700">
            <a:solidFill>
              <a:srgbClr val="F4A261"/>
            </a:solidFill>
            <a:prstDash val="solid"/>
          </a:ln>
        </p:spPr>
      </p:sp>
      <p:sp>
        <p:nvSpPr>
          <p:cNvPr id="13" name="g04 Edge item 3"/>
          <p:cNvSpPr txBox="1"/>
          <p:nvPr/>
        </p:nvSpPr>
        <p:spPr>
          <a:xfrm>
            <a:off x="685800" y="3063240"/>
            <a:ext cx="3794760" cy="640080"/>
          </a:xfrm>
          <a:prstGeom prst="rect">
            <a:avLst/>
          </a:prstGeom>
          <a:noFill/>
          <a:ln/>
        </p:spPr>
        <p:txBody>
          <a:bodyPr wrap="square" lIns="0" tIns="0" rIns="0" bIns="0" rtlCol="0" anchor="t"/>
          <a:lstStyle/>
          <a:p>
            <a:pPr indent="0" marL="0">
              <a:buNone/>
            </a:pPr>
            <a:r>
              <a:rPr lang="en-US" sz="1400" b="1" dirty="0">
                <a:solidFill>
                  <a:schemeClr val="bg1"/>
                </a:solidFill>
              </a:rPr>
              <a:t>Explainable matching</a:t>
            </a:r>
            <a:endParaRPr lang="en-US" sz="1400" dirty="0"/>
          </a:p>
          <a:p>
            <a:pPr indent="0" marL="0">
              <a:buNone/>
            </a:pPr>
            <a:r>
              <a:rPr lang="en-US" sz="1200" dirty="0">
                <a:solidFill>
                  <a:schemeClr val="accent3"/>
                </a:solidFill>
              </a:rPr>
              <a:t>Score: distance, capacity, diet, time, need.</a:t>
            </a:r>
            <a:endParaRPr lang="en-US" sz="1400" dirty="0"/>
          </a:p>
        </p:txBody>
      </p:sp>
      <p:sp>
        <p:nvSpPr>
          <p:cNvPr id="14" name="g05 Edge marker 4"/>
          <p:cNvSpPr/>
          <p:nvPr/>
        </p:nvSpPr>
        <p:spPr>
          <a:xfrm>
            <a:off x="457200" y="3840480"/>
            <a:ext cx="64008" cy="548640"/>
          </a:xfrm>
          <a:prstGeom prst="rect">
            <a:avLst/>
          </a:prstGeom>
          <a:solidFill>
            <a:schemeClr val="accent1"/>
          </a:solidFill>
          <a:ln w="12700">
            <a:solidFill>
              <a:srgbClr val="F4A261"/>
            </a:solidFill>
            <a:prstDash val="solid"/>
          </a:ln>
        </p:spPr>
      </p:sp>
      <p:sp>
        <p:nvSpPr>
          <p:cNvPr id="15" name="g05 Edge item 4"/>
          <p:cNvSpPr txBox="1"/>
          <p:nvPr/>
        </p:nvSpPr>
        <p:spPr>
          <a:xfrm>
            <a:off x="685800" y="3794760"/>
            <a:ext cx="3794760" cy="640080"/>
          </a:xfrm>
          <a:prstGeom prst="rect">
            <a:avLst/>
          </a:prstGeom>
          <a:noFill/>
          <a:ln/>
        </p:spPr>
        <p:txBody>
          <a:bodyPr wrap="square" lIns="0" tIns="0" rIns="0" bIns="0" rtlCol="0" anchor="t"/>
          <a:lstStyle/>
          <a:p>
            <a:pPr indent="0" marL="0">
              <a:buNone/>
            </a:pPr>
            <a:r>
              <a:rPr lang="en-US" sz="1400" b="1" dirty="0">
                <a:solidFill>
                  <a:schemeClr val="bg1"/>
                </a:solidFill>
              </a:rPr>
              <a:t>Local languages</a:t>
            </a:r>
            <a:endParaRPr lang="en-US" sz="1400" dirty="0"/>
          </a:p>
          <a:p>
            <a:pPr indent="0" marL="0">
              <a:buNone/>
            </a:pPr>
            <a:r>
              <a:rPr lang="en-US" sz="1200" dirty="0">
                <a:solidFill>
                  <a:schemeClr val="accent3"/>
                </a:solidFill>
              </a:rPr>
              <a:t>Messages in English, Hindi and Odia.</a:t>
            </a:r>
            <a:endParaRPr lang="en-US" sz="1400" dirty="0"/>
          </a:p>
        </p:txBody>
      </p:sp>
      <p:sp>
        <p:nvSpPr>
          <p:cNvPr id="16" name="g06 Impact card"/>
          <p:cNvSpPr/>
          <p:nvPr/>
        </p:nvSpPr>
        <p:spPr>
          <a:xfrm>
            <a:off x="4846320" y="1143000"/>
            <a:ext cx="3840480" cy="1783080"/>
          </a:xfrm>
          <a:prstGeom prst="roundRect">
            <a:avLst>
              <a:gd name="adj" fmla="val 4103"/>
            </a:avLst>
          </a:prstGeom>
          <a:solidFill>
            <a:schemeClr val="tx2"/>
          </a:solidFill>
          <a:ln w="9525">
            <a:solidFill>
              <a:srgbClr val="F4A261"/>
            </a:solidFill>
            <a:prstDash val="solid"/>
          </a:ln>
        </p:spPr>
      </p:sp>
      <p:sp>
        <p:nvSpPr>
          <p:cNvPr id="17" name="g06 Impact heading"/>
          <p:cNvSpPr txBox="1"/>
          <p:nvPr/>
        </p:nvSpPr>
        <p:spPr>
          <a:xfrm>
            <a:off x="4983480" y="1280160"/>
            <a:ext cx="3566160" cy="228600"/>
          </a:xfrm>
          <a:prstGeom prst="rect">
            <a:avLst/>
          </a:prstGeom>
          <a:noFill/>
          <a:ln/>
        </p:spPr>
        <p:txBody>
          <a:bodyPr wrap="square" lIns="0" tIns="0" rIns="0" bIns="0" rtlCol="0" anchor="ctr"/>
          <a:lstStyle/>
          <a:p>
            <a:pPr indent="0" marL="0">
              <a:buNone/>
            </a:pPr>
            <a:r>
              <a:rPr lang="en-US" sz="850" b="1" spc="100" kern="0" dirty="0">
                <a:solidFill>
                  <a:schemeClr val="accent1"/>
                </a:solidFill>
              </a:rPr>
              <a:t>PROJECTED MONTHLY IMPACT  |  100 LISTINGS x 40 PACKETS</a:t>
            </a:r>
            <a:endParaRPr lang="en-US" sz="850" dirty="0"/>
          </a:p>
        </p:txBody>
      </p:sp>
      <p:sp>
        <p:nvSpPr>
          <p:cNvPr id="18" name="g07 Impact number 1"/>
          <p:cNvSpPr txBox="1"/>
          <p:nvPr/>
        </p:nvSpPr>
        <p:spPr>
          <a:xfrm>
            <a:off x="4983480" y="1783080"/>
            <a:ext cx="1188720" cy="914400"/>
          </a:xfrm>
          <a:prstGeom prst="rect">
            <a:avLst/>
          </a:prstGeom>
          <a:noFill/>
          <a:ln/>
        </p:spPr>
        <p:txBody>
          <a:bodyPr wrap="square" lIns="0" tIns="0" rIns="0" bIns="0" rtlCol="0" anchor="t"/>
          <a:lstStyle/>
          <a:p>
            <a:pPr indent="0" marL="0">
              <a:buNone/>
            </a:pPr>
            <a:r>
              <a:rPr lang="en-US" sz="2400" b="1" dirty="0">
                <a:solidFill>
                  <a:schemeClr val="accent1"/>
                </a:solidFill>
                <a:latin typeface="Georgia" pitchFamily="34" charset="0"/>
                <a:ea typeface="Georgia" pitchFamily="34" charset="-122"/>
                <a:cs typeface="Georgia" pitchFamily="34" charset="-120"/>
              </a:rPr>
              <a:t>4,000</a:t>
            </a:r>
            <a:endParaRPr lang="en-US" sz="2400" dirty="0"/>
          </a:p>
          <a:p>
            <a:pPr indent="0" marL="0">
              <a:buNone/>
            </a:pPr>
            <a:r>
              <a:rPr lang="en-US" sz="1050" dirty="0">
                <a:solidFill>
                  <a:schemeClr val="accent3"/>
                </a:solidFill>
              </a:rPr>
              <a:t>meals</a:t>
            </a:r>
            <a:endParaRPr lang="en-US" sz="2400" dirty="0"/>
          </a:p>
        </p:txBody>
      </p:sp>
      <p:sp>
        <p:nvSpPr>
          <p:cNvPr id="19" name="g08 Impact number 2"/>
          <p:cNvSpPr txBox="1"/>
          <p:nvPr/>
        </p:nvSpPr>
        <p:spPr>
          <a:xfrm>
            <a:off x="6263640" y="1783080"/>
            <a:ext cx="1188720" cy="914400"/>
          </a:xfrm>
          <a:prstGeom prst="rect">
            <a:avLst/>
          </a:prstGeom>
          <a:noFill/>
          <a:ln/>
        </p:spPr>
        <p:txBody>
          <a:bodyPr wrap="square" lIns="0" tIns="0" rIns="0" bIns="0" rtlCol="0" anchor="t"/>
          <a:lstStyle/>
          <a:p>
            <a:pPr indent="0" marL="0">
              <a:buNone/>
            </a:pPr>
            <a:r>
              <a:rPr lang="en-US" sz="2400" b="1" dirty="0">
                <a:solidFill>
                  <a:schemeClr val="accent1"/>
                </a:solidFill>
                <a:latin typeface="Georgia" pitchFamily="34" charset="0"/>
                <a:ea typeface="Georgia" pitchFamily="34" charset="-122"/>
                <a:cs typeface="Georgia" pitchFamily="34" charset="-120"/>
              </a:rPr>
              <a:t>1,600</a:t>
            </a:r>
            <a:endParaRPr lang="en-US" sz="2400" dirty="0"/>
          </a:p>
          <a:p>
            <a:pPr indent="0" marL="0">
              <a:buNone/>
            </a:pPr>
            <a:r>
              <a:rPr lang="en-US" sz="1050" dirty="0">
                <a:solidFill>
                  <a:schemeClr val="accent3"/>
                </a:solidFill>
              </a:rPr>
              <a:t>kg food saved</a:t>
            </a:r>
            <a:endParaRPr lang="en-US" sz="2400" dirty="0"/>
          </a:p>
        </p:txBody>
      </p:sp>
      <p:sp>
        <p:nvSpPr>
          <p:cNvPr id="20" name="g09 Impact number 3"/>
          <p:cNvSpPr txBox="1"/>
          <p:nvPr/>
        </p:nvSpPr>
        <p:spPr>
          <a:xfrm>
            <a:off x="7543800" y="1783080"/>
            <a:ext cx="1188720" cy="914400"/>
          </a:xfrm>
          <a:prstGeom prst="rect">
            <a:avLst/>
          </a:prstGeom>
          <a:noFill/>
          <a:ln/>
        </p:spPr>
        <p:txBody>
          <a:bodyPr wrap="square" lIns="0" tIns="0" rIns="0" bIns="0" rtlCol="0" anchor="t"/>
          <a:lstStyle/>
          <a:p>
            <a:pPr indent="0" marL="0">
              <a:buNone/>
            </a:pPr>
            <a:r>
              <a:rPr lang="en-US" sz="2400" b="1" dirty="0">
                <a:solidFill>
                  <a:schemeClr val="accent1"/>
                </a:solidFill>
                <a:latin typeface="Georgia" pitchFamily="34" charset="0"/>
                <a:ea typeface="Georgia" pitchFamily="34" charset="-122"/>
                <a:cs typeface="Georgia" pitchFamily="34" charset="-120"/>
              </a:rPr>
              <a:t>4,000</a:t>
            </a:r>
            <a:endParaRPr lang="en-US" sz="2400" dirty="0"/>
          </a:p>
          <a:p>
            <a:pPr indent="0" marL="0">
              <a:buNone/>
            </a:pPr>
            <a:r>
              <a:rPr lang="en-US" sz="1050" dirty="0">
                <a:solidFill>
                  <a:schemeClr val="accent3"/>
                </a:solidFill>
              </a:rPr>
              <a:t>kg CO2e avoided</a:t>
            </a:r>
            <a:endParaRPr lang="en-US" sz="2400" dirty="0"/>
          </a:p>
        </p:txBody>
      </p:sp>
      <p:sp>
        <p:nvSpPr>
          <p:cNvPr id="21" name="g10 Scale heading"/>
          <p:cNvSpPr txBox="1"/>
          <p:nvPr/>
        </p:nvSpPr>
        <p:spPr>
          <a:xfrm>
            <a:off x="4846320" y="3108960"/>
            <a:ext cx="3840480" cy="228600"/>
          </a:xfrm>
          <a:prstGeom prst="rect">
            <a:avLst/>
          </a:prstGeom>
          <a:noFill/>
          <a:ln/>
        </p:spPr>
        <p:txBody>
          <a:bodyPr wrap="square" lIns="0" tIns="0" rIns="0" bIns="0" rtlCol="0" anchor="ctr"/>
          <a:lstStyle/>
          <a:p>
            <a:pPr indent="0" marL="0">
              <a:buNone/>
            </a:pPr>
            <a:r>
              <a:rPr lang="en-US" sz="1200" b="1" spc="300" kern="0" dirty="0">
                <a:solidFill>
                  <a:schemeClr val="accent1"/>
                </a:solidFill>
              </a:rPr>
              <a:t>SCALE PATH</a:t>
            </a:r>
            <a:endParaRPr lang="en-US" sz="1200" dirty="0"/>
          </a:p>
        </p:txBody>
      </p:sp>
      <p:sp>
        <p:nvSpPr>
          <p:cNvPr id="22" name="g11 Scale card 1"/>
          <p:cNvSpPr/>
          <p:nvPr/>
        </p:nvSpPr>
        <p:spPr>
          <a:xfrm>
            <a:off x="4846320" y="3429000"/>
            <a:ext cx="3840480" cy="329184"/>
          </a:xfrm>
          <a:prstGeom prst="roundRect">
            <a:avLst>
              <a:gd name="adj" fmla="val 22222"/>
            </a:avLst>
          </a:prstGeom>
          <a:solidFill>
            <a:schemeClr val="accent2"/>
          </a:solidFill>
          <a:ln w="9525">
            <a:solidFill>
              <a:srgbClr val="2A5A43"/>
            </a:solidFill>
            <a:prstDash val="solid"/>
          </a:ln>
        </p:spPr>
      </p:sp>
      <p:sp>
        <p:nvSpPr>
          <p:cNvPr id="23" name="g11 Scale text 1"/>
          <p:cNvSpPr txBox="1"/>
          <p:nvPr/>
        </p:nvSpPr>
        <p:spPr>
          <a:xfrm>
            <a:off x="4983480" y="3429000"/>
            <a:ext cx="3566160" cy="329184"/>
          </a:xfrm>
          <a:prstGeom prst="rect">
            <a:avLst/>
          </a:prstGeom>
          <a:noFill/>
          <a:ln/>
        </p:spPr>
        <p:txBody>
          <a:bodyPr wrap="square" lIns="0" tIns="0" rIns="0" bIns="0" rtlCol="0" anchor="ctr"/>
          <a:lstStyle/>
          <a:p>
            <a:pPr indent="0" marL="0">
              <a:buNone/>
            </a:pPr>
            <a:r>
              <a:rPr lang="en-US" sz="1200" b="1" dirty="0">
                <a:solidFill>
                  <a:schemeClr val="bg1"/>
                </a:solidFill>
              </a:rPr>
              <a:t>1   Pilot: Bhubaneswar</a:t>
            </a:r>
            <a:endParaRPr lang="en-US" sz="1200" dirty="0"/>
          </a:p>
        </p:txBody>
      </p:sp>
      <p:sp>
        <p:nvSpPr>
          <p:cNvPr id="24" name="g12 Scale card 2"/>
          <p:cNvSpPr/>
          <p:nvPr/>
        </p:nvSpPr>
        <p:spPr>
          <a:xfrm>
            <a:off x="4846320" y="3813048"/>
            <a:ext cx="3840480" cy="329184"/>
          </a:xfrm>
          <a:prstGeom prst="roundRect">
            <a:avLst>
              <a:gd name="adj" fmla="val 22222"/>
            </a:avLst>
          </a:prstGeom>
          <a:solidFill>
            <a:schemeClr val="tx2"/>
          </a:solidFill>
          <a:ln w="9525">
            <a:solidFill>
              <a:srgbClr val="2A5A43"/>
            </a:solidFill>
            <a:prstDash val="solid"/>
          </a:ln>
        </p:spPr>
      </p:sp>
      <p:sp>
        <p:nvSpPr>
          <p:cNvPr id="25" name="g12 Scale text 2"/>
          <p:cNvSpPr txBox="1"/>
          <p:nvPr/>
        </p:nvSpPr>
        <p:spPr>
          <a:xfrm>
            <a:off x="4983480" y="3813048"/>
            <a:ext cx="3566160" cy="329184"/>
          </a:xfrm>
          <a:prstGeom prst="rect">
            <a:avLst/>
          </a:prstGeom>
          <a:noFill/>
          <a:ln/>
        </p:spPr>
        <p:txBody>
          <a:bodyPr wrap="square" lIns="0" tIns="0" rIns="0" bIns="0" rtlCol="0" anchor="ctr"/>
          <a:lstStyle/>
          <a:p>
            <a:pPr indent="0" marL="0">
              <a:buNone/>
            </a:pPr>
            <a:r>
              <a:rPr lang="en-US" sz="1200" b="1" dirty="0">
                <a:solidFill>
                  <a:schemeClr val="bg1"/>
                </a:solidFill>
              </a:rPr>
              <a:t>2   Odisha cities</a:t>
            </a:r>
            <a:endParaRPr lang="en-US" sz="1200" dirty="0"/>
          </a:p>
        </p:txBody>
      </p:sp>
      <p:sp>
        <p:nvSpPr>
          <p:cNvPr id="26" name="g13 Scale card 3"/>
          <p:cNvSpPr/>
          <p:nvPr/>
        </p:nvSpPr>
        <p:spPr>
          <a:xfrm>
            <a:off x="4846320" y="4197096"/>
            <a:ext cx="3840480" cy="329184"/>
          </a:xfrm>
          <a:prstGeom prst="roundRect">
            <a:avLst>
              <a:gd name="adj" fmla="val 22222"/>
            </a:avLst>
          </a:prstGeom>
          <a:solidFill>
            <a:schemeClr val="tx2"/>
          </a:solidFill>
          <a:ln w="9525">
            <a:solidFill>
              <a:srgbClr val="2A5A43"/>
            </a:solidFill>
            <a:prstDash val="solid"/>
          </a:ln>
        </p:spPr>
      </p:sp>
      <p:sp>
        <p:nvSpPr>
          <p:cNvPr id="27" name="g13 Scale text 3"/>
          <p:cNvSpPr txBox="1"/>
          <p:nvPr/>
        </p:nvSpPr>
        <p:spPr>
          <a:xfrm>
            <a:off x="4983480" y="4197096"/>
            <a:ext cx="3566160" cy="329184"/>
          </a:xfrm>
          <a:prstGeom prst="rect">
            <a:avLst/>
          </a:prstGeom>
          <a:noFill/>
          <a:ln/>
        </p:spPr>
        <p:txBody>
          <a:bodyPr wrap="square" lIns="0" tIns="0" rIns="0" bIns="0" rtlCol="0" anchor="ctr"/>
          <a:lstStyle/>
          <a:p>
            <a:pPr indent="0" marL="0">
              <a:buNone/>
            </a:pPr>
            <a:r>
              <a:rPr lang="en-US" sz="1200" b="1" dirty="0">
                <a:solidFill>
                  <a:schemeClr val="bg1"/>
                </a:solidFill>
              </a:rPr>
              <a:t>3   India via CSR and municipal partners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A79A"/>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00"/>
                                        <p:tgtEl>
                                          <p:spTgt spid="5"/>
                                        </p:tgtEl>
                                      </p:cBhvr>
                                    </p:animEffect>
                                  </p:childTnLst>
                                </p:cTn>
                              </p:par>
                              <p:par>
                                <p:cTn id="8" presetID="10" presetClass="entr" presetSubtype="0" fill="hold" nodeType="withEffect">
                                  <p:stCondLst>
                                    <p:cond delay="3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6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6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9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9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12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12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15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15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18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180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21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nodeType="withEffect">
                                  <p:stCondLst>
                                    <p:cond delay="24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nodeType="withEffect">
                                  <p:stCondLst>
                                    <p:cond delay="27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nodeType="withEffect">
                                  <p:stCondLst>
                                    <p:cond delay="300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nodeType="withEffect">
                                  <p:stCondLst>
                                    <p:cond delay="330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330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nodeType="withEffect">
                                  <p:stCondLst>
                                    <p:cond delay="360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nodeType="withEffect">
                                  <p:stCondLst>
                                    <p:cond delay="360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nodeType="withEffect">
                                  <p:stCondLst>
                                    <p:cond delay="390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nodeType="withEffect">
                                  <p:stCondLst>
                                    <p:cond delay="390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411480"/>
            <a:ext cx="8229600" cy="640080"/>
          </a:xfrm>
          <a:prstGeom prst="rect">
            <a:avLst/>
          </a:prstGeom>
          <a:noFill/>
          <a:ln/>
        </p:spPr>
        <p:txBody>
          <a:bodyPr wrap="square" lIns="0" tIns="0" rIns="0" bIns="0" rtlCol="0" anchor="ctr"/>
          <a:lstStyle/>
          <a:p>
            <a:pPr algn="l" indent="0" marL="0">
              <a:buNone/>
            </a:pPr>
            <a:r>
              <a:rPr lang="en-US" sz="2600" b="1" dirty="0">
                <a:solidFill>
                  <a:schemeClr val="bg1"/>
                </a:solidFill>
              </a:rPr>
              <a:t>Prototype: Zero Food Waste in action</a:t>
            </a:r>
            <a:endParaRPr lang="en-US" sz="2600" dirty="0"/>
          </a:p>
        </p:txBody>
      </p:sp>
      <p:sp>
        <p:nvSpPr>
          <p:cNvPr id="4" name="Clock track"/>
          <p:cNvSpPr/>
          <p:nvPr/>
        </p:nvSpPr>
        <p:spPr>
          <a:xfrm>
            <a:off x="457200" y="201168"/>
            <a:ext cx="6675120" cy="64008"/>
          </a:xfrm>
          <a:prstGeom prst="rect">
            <a:avLst/>
          </a:prstGeom>
          <a:solidFill>
            <a:schemeClr val="bg2"/>
          </a:solidFill>
          <a:ln w="12700">
            <a:solidFill>
              <a:srgbClr val="1F4D37"/>
            </a:solidFill>
            <a:prstDash val="solid"/>
          </a:ln>
        </p:spPr>
      </p:sp>
      <p:sp>
        <p:nvSpPr>
          <p:cNvPr id="5" name="g00 Clock fill wipe"/>
          <p:cNvSpPr/>
          <p:nvPr/>
        </p:nvSpPr>
        <p:spPr>
          <a:xfrm>
            <a:off x="457200" y="201168"/>
            <a:ext cx="6675120" cy="64008"/>
          </a:xfrm>
          <a:prstGeom prst="rect">
            <a:avLst/>
          </a:prstGeom>
          <a:solidFill>
            <a:schemeClr val="accent2"/>
          </a:solidFill>
          <a:ln w="12700">
            <a:solidFill>
              <a:srgbClr val="1F4D37"/>
            </a:solidFill>
            <a:prstDash val="solid"/>
          </a:ln>
        </p:spPr>
      </p:sp>
      <p:sp>
        <p:nvSpPr>
          <p:cNvPr id="6" name="Clock label"/>
          <p:cNvSpPr txBox="1"/>
          <p:nvPr/>
        </p:nvSpPr>
        <p:spPr>
          <a:xfrm>
            <a:off x="7269480" y="128016"/>
            <a:ext cx="1417320" cy="201168"/>
          </a:xfrm>
          <a:prstGeom prst="rect">
            <a:avLst/>
          </a:prstGeom>
          <a:noFill/>
          <a:ln/>
        </p:spPr>
        <p:txBody>
          <a:bodyPr wrap="square" lIns="0" tIns="0" rIns="0" bIns="0" rtlCol="0" anchor="ctr"/>
          <a:lstStyle/>
          <a:p>
            <a:pPr algn="r" indent="0" marL="0">
              <a:buNone/>
            </a:pPr>
            <a:r>
              <a:rPr lang="en-US" sz="900" b="1" spc="100" kern="0" dirty="0">
                <a:solidFill>
                  <a:schemeClr val="accent3"/>
                </a:solidFill>
              </a:rPr>
              <a:t>DELIVERED</a:t>
            </a:r>
            <a:endParaRPr lang="en-US" sz="900" dirty="0"/>
          </a:p>
        </p:txBody>
      </p:sp>
      <p:sp>
        <p:nvSpPr>
          <p:cNvPr id="7" name="g01 Prototype placeholder"/>
          <p:cNvSpPr/>
          <p:nvPr/>
        </p:nvSpPr>
        <p:spPr>
          <a:xfrm>
            <a:off x="457200" y="1188720"/>
            <a:ext cx="8229600" cy="2743200"/>
          </a:xfrm>
          <a:prstGeom prst="roundRect">
            <a:avLst>
              <a:gd name="adj" fmla="val 3333"/>
            </a:avLst>
          </a:prstGeom>
          <a:solidFill>
            <a:schemeClr val="tx2"/>
          </a:solidFill>
          <a:ln w="19050">
            <a:solidFill>
              <a:srgbClr val="F4A261"/>
            </a:solidFill>
            <a:prstDash val="dash"/>
          </a:ln>
        </p:spPr>
      </p:sp>
      <p:sp>
        <p:nvSpPr>
          <p:cNvPr id="8" name="g01 Prototype placeholder text"/>
          <p:cNvSpPr txBox="1"/>
          <p:nvPr/>
        </p:nvSpPr>
        <p:spPr>
          <a:xfrm>
            <a:off x="457200" y="1188720"/>
            <a:ext cx="8229600" cy="2743200"/>
          </a:xfrm>
          <a:prstGeom prst="rect">
            <a:avLst/>
          </a:prstGeom>
          <a:noFill/>
          <a:ln/>
        </p:spPr>
        <p:txBody>
          <a:bodyPr wrap="square" lIns="0" tIns="0" rIns="0" bIns="0" rtlCol="0" anchor="ctr"/>
          <a:lstStyle/>
          <a:p>
            <a:pPr algn="ctr" indent="0" marL="0">
              <a:buNone/>
            </a:pPr>
            <a:r>
              <a:rPr lang="en-US" sz="1800" dirty="0">
                <a:solidFill>
                  <a:schemeClr val="accent5"/>
                </a:solidFill>
              </a:rPr>
              <a:t>Add your prototype screenshots or demo video here</a:t>
            </a:r>
            <a:endParaRPr lang="en-US" sz="1800" dirty="0"/>
          </a:p>
        </p:txBody>
      </p:sp>
      <p:sp>
        <p:nvSpPr>
          <p:cNvPr id="9" name="g02 Caption 1"/>
          <p:cNvSpPr txBox="1"/>
          <p:nvPr/>
        </p:nvSpPr>
        <p:spPr>
          <a:xfrm>
            <a:off x="457200" y="4114800"/>
            <a:ext cx="2651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Dashboard map + route</a:t>
            </a:r>
            <a:endParaRPr lang="en-US" sz="1100" dirty="0"/>
          </a:p>
        </p:txBody>
      </p:sp>
      <p:sp>
        <p:nvSpPr>
          <p:cNvPr id="10" name="g03 Caption 2"/>
          <p:cNvSpPr txBox="1"/>
          <p:nvPr/>
        </p:nvSpPr>
        <p:spPr>
          <a:xfrm>
            <a:off x="3246120" y="4114800"/>
            <a:ext cx="2651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Pipeline output: safety, match, messages</a:t>
            </a:r>
            <a:endParaRPr lang="en-US" sz="1100" dirty="0"/>
          </a:p>
        </p:txBody>
      </p:sp>
      <p:sp>
        <p:nvSpPr>
          <p:cNvPr id="11" name="g04 Caption 3"/>
          <p:cNvSpPr txBox="1"/>
          <p:nvPr/>
        </p:nvSpPr>
        <p:spPr>
          <a:xfrm>
            <a:off x="6035040" y="4114800"/>
            <a:ext cx="2651760" cy="365760"/>
          </a:xfrm>
          <a:prstGeom prst="rect">
            <a:avLst/>
          </a:prstGeom>
          <a:noFill/>
          <a:ln/>
        </p:spPr>
        <p:txBody>
          <a:bodyPr wrap="square" lIns="0" tIns="0" rIns="0" bIns="0" rtlCol="0" anchor="ctr"/>
          <a:lstStyle/>
          <a:p>
            <a:pPr algn="ctr" indent="0" marL="0">
              <a:buNone/>
            </a:pPr>
            <a:r>
              <a:rPr lang="en-US" sz="1100" b="1" dirty="0">
                <a:solidFill>
                  <a:schemeClr val="accent1"/>
                </a:solidFill>
              </a:rPr>
              <a:t>Impact counters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FA79A"/>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00"/>
                                        <p:tgtEl>
                                          <p:spTgt spid="5"/>
                                        </p:tgtEl>
                                      </p:cBhvr>
                                    </p:animEffect>
                                  </p:childTnLst>
                                </p:cTn>
                              </p:par>
                              <p:par>
                                <p:cTn id="8" presetID="10" presetClass="entr" presetSubtype="0" fill="hold" nodeType="withEffect">
                                  <p:stCondLst>
                                    <p:cond delay="3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3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6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9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1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Zero Food Waste">
  <a:themeElements>
    <a:clrScheme name="Zero Food Waste">
      <a:dk1>
        <a:srgbClr val="0E241A"/>
      </a:dk1>
      <a:lt1>
        <a:srgbClr val="F4F1E8"/>
      </a:lt1>
      <a:dk2>
        <a:srgbClr val="163828"/>
      </a:dk2>
      <a:lt2>
        <a:srgbClr val="1F4D37"/>
      </a:lt2>
      <a:accent1>
        <a:srgbClr val="F4A261"/>
      </a:accent1>
      <a:accent2>
        <a:srgbClr val="2D9A5B"/>
      </a:accent2>
      <a:accent3>
        <a:srgbClr val="B7E4C7"/>
      </a:accent3>
      <a:accent4>
        <a:srgbClr val="E76F51"/>
      </a:accent4>
      <a:accent5>
        <a:srgbClr val="8FA79A"/>
      </a:accent5>
      <a:accent6>
        <a:srgbClr val="FFD166"/>
      </a:accent6>
      <a:hlink>
        <a:srgbClr val="F4A261"/>
      </a:hlink>
      <a:folHlink>
        <a:srgbClr val="8FA79A"/>
      </a:folHlink>
    </a:clrScheme>
    <a:fontScheme name="Zero Food Wast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Food Waste</dc:title>
  <dc:subject>PptxGenJS Presentation</dc:subject>
  <dc:creator>PptxGenJS</dc:creator>
  <cp:lastModifiedBy>PptxGenJS</cp:lastModifiedBy>
  <cp:revision>1</cp:revision>
  <dcterms:created xsi:type="dcterms:W3CDTF">2026-10-15T06:26:09Z</dcterms:created>
  <dcterms:modified xsi:type="dcterms:W3CDTF">2026-10-15T06:26:09Z</dcterms:modified>
</cp:coreProperties>
</file>